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6"/>
  </p:notesMasterIdLst>
  <p:sldIdLst>
    <p:sldId id="261" r:id="rId4"/>
    <p:sldId id="256" r:id="rId5"/>
    <p:sldId id="257" r:id="rId7"/>
    <p:sldId id="258" r:id="rId8"/>
    <p:sldId id="259" r:id="rId9"/>
  </p:sldIdLst>
  <p:sldSz cx="12191365" cy="6858000"/>
  <p:notesSz cx="1219136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按三块讲。教学点课程和学生去向。科研点论文、专著和基金。社会服务点学会职务和企业合作。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先讲质量强国、制造强国，再落到高可靠、少失效和退化轨迹。四个问题与下一页一一对应。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按四个问题对讲。每块点一项代表工作即可，不必报齐刊物。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四块各举一句。联邦学习可提已有航空发动机工作。最后停在请批评指正。</a:t>
            </a:r>
            <a:endParaRPr lang="en-US" sz="1200" noProof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9" Type="http://schemas.openxmlformats.org/officeDocument/2006/relationships/notesSlide" Target="../notesSlides/notesSlide1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image"/>
          <p:cNvPicPr/>
          <p:nvPr/>
        </p:nvPicPr>
        <p:blipFill>
          <a:blip r:embed="rId1"/>
          <a:srcRect l="18000" r="8000"/>
          <a:stretch>
            <a:fillRect/>
          </a:stretch>
        </p:blipFill>
        <p:spPr>
          <a:xfrm>
            <a:off x="7493000" y="0"/>
            <a:ext cx="4699000" cy="6858000"/>
          </a:xfrm>
          <a:prstGeom prst="rect">
            <a:avLst/>
          </a:prstGeom>
          <a:ln>
            <a:noFill/>
          </a:ln>
        </p:spPr>
      </p:pic>
      <p:sp>
        <p:nvSpPr>
          <p:cNvPr id="3" name="image-overlay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gradFill rotWithShape="1">
            <a:gsLst>
              <a:gs pos="0">
                <a:srgbClr val="0A1F3D">
                  <a:alpha val="92157"/>
                </a:srgbClr>
              </a:gs>
              <a:gs pos="45000">
                <a:srgbClr val="0A1F3D">
                  <a:alpha val="54902"/>
                </a:srgbClr>
              </a:gs>
              <a:gs pos="100000">
                <a:srgbClr val="071629">
                  <a:alpha val="8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left-background"/>
          <p:cNvSpPr/>
          <p:nvPr/>
        </p:nvSpPr>
        <p:spPr>
          <a:xfrm>
            <a:off x="0" y="0"/>
            <a:ext cx="8255000" cy="6858000"/>
          </a:xfrm>
          <a:prstGeom prst="rect">
            <a:avLst/>
          </a:prstGeom>
          <a:gradFill rotWithShape="1">
            <a:gsLst>
              <a:gs pos="0">
                <a:srgbClr val="071629"/>
              </a:gs>
              <a:gs pos="72000">
                <a:srgbClr val="0A1F3D"/>
              </a:gs>
              <a:gs pos="100000">
                <a:srgbClr val="0A1F3D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decorative-circle-1"/>
          <p:cNvSpPr/>
          <p:nvPr/>
        </p:nvSpPr>
        <p:spPr>
          <a:xfrm>
            <a:off x="5461000" y="-1333500"/>
            <a:ext cx="3175000" cy="3175000"/>
          </a:xfrm>
          <a:prstGeom prst="ellipse">
            <a:avLst/>
          </a:prstGeom>
          <a:solidFill>
            <a:srgbClr val="1E4E7A">
              <a:alpha val="14902"/>
            </a:srgbClr>
          </a:solidFill>
          <a:ln>
            <a:noFill/>
          </a:ln>
        </p:spPr>
      </p:sp>
      <p:sp>
        <p:nvSpPr>
          <p:cNvPr id="6" name="decorative-circle-2"/>
          <p:cNvSpPr/>
          <p:nvPr/>
        </p:nvSpPr>
        <p:spPr>
          <a:xfrm>
            <a:off x="-1206500" y="4826000"/>
            <a:ext cx="2921000" cy="2921000"/>
          </a:xfrm>
          <a:prstGeom prst="ellipse">
            <a:avLst/>
          </a:prstGeom>
          <a:solidFill>
            <a:srgbClr val="3A7CA5">
              <a:alpha val="10196"/>
            </a:srgbClr>
          </a:solidFill>
          <a:ln>
            <a:noFill/>
          </a:ln>
        </p:spPr>
      </p:sp>
      <p:sp>
        <p:nvSpPr>
          <p:cNvPr id="7" name="top-rule"/>
          <p:cNvSpPr/>
          <p:nvPr/>
        </p:nvSpPr>
        <p:spPr>
          <a:xfrm>
            <a:off x="711200" y="635000"/>
            <a:ext cx="457200" cy="38100"/>
          </a:xfrm>
          <a:prstGeom prst="rect">
            <a:avLst/>
          </a:prstGeom>
          <a:solidFill>
            <a:srgbClr val="5B9BBD"/>
          </a:solidFill>
          <a:ln>
            <a:noFill/>
          </a:ln>
        </p:spPr>
      </p:sp>
      <p:sp>
        <p:nvSpPr>
          <p:cNvPr id="8" name="english-label"/>
          <p:cNvSpPr txBox="1"/>
          <p:nvPr/>
        </p:nvSpPr>
        <p:spPr>
          <a:xfrm>
            <a:off x="1333500" y="5461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1050" b="1" kern="0" spc="220" noProof="1">
                <a:solidFill>
                  <a:srgbClr val="9FC3D9"/>
                </a:solidFill>
                <a:latin typeface="Arial" panose="020B0604020202020204"/>
                <a:ea typeface="宋体" panose="02010600030101010101" pitchFamily="2" charset="-122"/>
              </a:rPr>
              <a:t>浙江工商大学统计与数据科学高峰论坛会议</a:t>
            </a:r>
            <a:endParaRPr lang="zh-CN" altLang="en-US" sz="1050" b="1" kern="0" spc="220" noProof="1">
              <a:solidFill>
                <a:srgbClr val="9FC3D9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cover-title"/>
          <p:cNvSpPr txBox="1"/>
          <p:nvPr/>
        </p:nvSpPr>
        <p:spPr>
          <a:xfrm>
            <a:off x="711200" y="1263650"/>
            <a:ext cx="6604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2000"/>
              </a:lnSpc>
            </a:pPr>
            <a:r>
              <a:rPr lang="zh-CN" altLang="en-US" sz="5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可靠性评估与</a:t>
            </a:r>
            <a:endParaRPr lang="en-US" sz="5400" noProof="1"/>
          </a:p>
          <a:p>
            <a:pPr algn="l">
              <a:lnSpc>
                <a:spcPct val="132000"/>
              </a:lnSpc>
            </a:pPr>
            <a:r>
              <a:rPr lang="en-US" altLang="zh-CN" sz="5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5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优化决策</a:t>
            </a:r>
            <a:r>
              <a:rPr lang="en-US" sz="54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endParaRPr lang="en-US" sz="5400" noProof="1"/>
          </a:p>
        </p:txBody>
      </p:sp>
      <p:sp>
        <p:nvSpPr>
          <p:cNvPr id="13" name="title-divider"/>
          <p:cNvSpPr/>
          <p:nvPr/>
        </p:nvSpPr>
        <p:spPr>
          <a:xfrm>
            <a:off x="711200" y="3883025"/>
            <a:ext cx="584200" cy="38100"/>
          </a:xfrm>
          <a:prstGeom prst="rect">
            <a:avLst/>
          </a:prstGeom>
          <a:solidFill>
            <a:srgbClr val="3A7CA5"/>
          </a:solidFill>
          <a:ln>
            <a:noFill/>
          </a:ln>
        </p:spPr>
      </p:sp>
      <p:sp>
        <p:nvSpPr>
          <p:cNvPr id="14" name="presenter"/>
          <p:cNvSpPr txBox="1"/>
          <p:nvPr/>
        </p:nvSpPr>
        <p:spPr>
          <a:xfrm>
            <a:off x="711200" y="4902200"/>
            <a:ext cx="6223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徐安察｜教授、博士生导师</a:t>
            </a:r>
            <a:endParaRPr lang="en-US" sz="1800" noProof="1"/>
          </a:p>
        </p:txBody>
      </p:sp>
      <p:sp>
        <p:nvSpPr>
          <p:cNvPr id="15" name="affiliation"/>
          <p:cNvSpPr txBox="1"/>
          <p:nvPr/>
        </p:nvSpPr>
        <p:spPr>
          <a:xfrm>
            <a:off x="711200" y="53975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B8CDDE"/>
                </a:solidFill>
                <a:latin typeface="微软雅黑" panose="020B0503020204020204" charset="-122"/>
                <a:ea typeface="微软雅黑" panose="020B0503020204020204" charset="-122"/>
              </a:rPr>
              <a:t>浙江工商大学统计与数据科学学院</a:t>
            </a:r>
            <a:endParaRPr lang="en-US" sz="13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2000" cy="73660"/>
          </a:xfrm>
          <a:prstGeom prst="rect">
            <a:avLst/>
          </a:prstGeom>
          <a:gradFill rotWithShape="1">
            <a:gsLst>
              <a:gs pos="0">
                <a:srgbClr val="0A1F3D"/>
              </a:gs>
              <a:gs pos="100000">
                <a:srgbClr val="1E4E7A"/>
              </a:gs>
            </a:gsLst>
            <a:lin ang="0" scaled="1"/>
          </a:gra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539750" y="161290"/>
            <a:ext cx="11082020" cy="2006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1200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简介｜教学、科研与社会服务</a:t>
            </a:r>
            <a:endParaRPr lang="en-US" sz="1200" noProof="1"/>
          </a:p>
        </p:txBody>
      </p:sp>
      <p:sp>
        <p:nvSpPr>
          <p:cNvPr id="4" name="page-title"/>
          <p:cNvSpPr txBox="1"/>
          <p:nvPr/>
        </p:nvSpPr>
        <p:spPr>
          <a:xfrm>
            <a:off x="539750" y="370205"/>
            <a:ext cx="110820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24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徐安察</a:t>
            </a:r>
            <a:endParaRPr lang="en-US" sz="2400" noProof="1"/>
          </a:p>
        </p:txBody>
      </p:sp>
      <p:sp>
        <p:nvSpPr>
          <p:cNvPr id="5" name="title-rule"/>
          <p:cNvSpPr/>
          <p:nvPr/>
        </p:nvSpPr>
        <p:spPr>
          <a:xfrm>
            <a:off x="502920" y="865505"/>
            <a:ext cx="383540" cy="36830"/>
          </a:xfrm>
          <a:prstGeom prst="rect">
            <a:avLst/>
          </a:prstGeom>
          <a:solidFill>
            <a:srgbClr val="3A7CA5"/>
          </a:solidFill>
          <a:ln>
            <a:noFill/>
          </a:ln>
        </p:spPr>
      </p:sp>
      <p:sp>
        <p:nvSpPr>
          <p:cNvPr id="6" name="page-subtitle"/>
          <p:cNvSpPr txBox="1"/>
          <p:nvPr/>
        </p:nvSpPr>
        <p:spPr>
          <a:xfrm>
            <a:off x="494030" y="971550"/>
            <a:ext cx="11173460" cy="292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8000"/>
              </a:lnSpc>
              <a:buClrTx/>
              <a:buSzTx/>
              <a:buFontTx/>
            </a:pPr>
            <a:r>
              <a:rPr lang="en-US" sz="1200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浙江省高校“院士专家结对培养青年英才计划”</a:t>
            </a:r>
            <a:endParaRPr lang="en-US" sz="1200" noProof="1">
              <a:solidFill>
                <a:srgbClr val="3A7CA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buClrTx/>
              <a:buSzTx/>
              <a:buFontTx/>
            </a:pPr>
            <a:r>
              <a:rPr lang="en-US" sz="1200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浙江省高层次人才特殊支持计划教育青年人才</a:t>
            </a:r>
            <a:endParaRPr lang="en-US" sz="1200" noProof="1">
              <a:solidFill>
                <a:srgbClr val="3A7CA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search-band"/>
          <p:cNvSpPr/>
          <p:nvPr/>
        </p:nvSpPr>
        <p:spPr>
          <a:xfrm>
            <a:off x="457200" y="1473200"/>
            <a:ext cx="11252200" cy="6096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0A1F3D"/>
              </a:gs>
              <a:gs pos="100000">
                <a:srgbClr val="1E4E7A"/>
              </a:gs>
            </a:gsLst>
            <a:lin ang="0" scaled="1"/>
          </a:gradFill>
          <a:ln>
            <a:noFill/>
          </a:ln>
        </p:spPr>
      </p:sp>
      <p:sp>
        <p:nvSpPr>
          <p:cNvPr id="8" name="research-icon"/>
          <p:cNvSpPr/>
          <p:nvPr/>
        </p:nvSpPr>
        <p:spPr>
          <a:xfrm>
            <a:off x="711200" y="1651000"/>
            <a:ext cx="241300" cy="2413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9FC3D9"/>
          </a:solidFill>
          <a:ln>
            <a:noFill/>
          </a:ln>
        </p:spPr>
      </p:sp>
      <p:sp>
        <p:nvSpPr>
          <p:cNvPr id="9" name="research-label"/>
          <p:cNvSpPr txBox="1"/>
          <p:nvPr/>
        </p:nvSpPr>
        <p:spPr>
          <a:xfrm>
            <a:off x="1117600" y="16129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9FC3D9"/>
                </a:solidFill>
                <a:latin typeface="微软雅黑" panose="020B0503020204020204" charset="-122"/>
                <a:ea typeface="微软雅黑" panose="020B0503020204020204" charset="-122"/>
              </a:rPr>
              <a:t>主要研究方向</a:t>
            </a:r>
            <a:endParaRPr lang="en-US" sz="1150" noProof="1"/>
          </a:p>
        </p:txBody>
      </p:sp>
      <p:sp>
        <p:nvSpPr>
          <p:cNvPr id="10" name="research-divider"/>
          <p:cNvSpPr/>
          <p:nvPr/>
        </p:nvSpPr>
        <p:spPr>
          <a:xfrm>
            <a:off x="2628900" y="1625600"/>
            <a:ext cx="12700" cy="292100"/>
          </a:xfrm>
          <a:prstGeom prst="rect">
            <a:avLst/>
          </a:prstGeom>
          <a:solidFill>
            <a:srgbClr val="7FA2BD">
              <a:alpha val="50196"/>
            </a:srgbClr>
          </a:solidFill>
          <a:ln>
            <a:noFill/>
          </a:ln>
        </p:spPr>
      </p:sp>
      <p:sp>
        <p:nvSpPr>
          <p:cNvPr id="11" name="research-topics"/>
          <p:cNvSpPr txBox="1"/>
          <p:nvPr/>
        </p:nvSpPr>
        <p:spPr>
          <a:xfrm>
            <a:off x="2895600" y="1600200"/>
            <a:ext cx="8382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16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剩余寿命预测与在线监控</a:t>
            </a:r>
            <a:r>
              <a:rPr lang="en-US" sz="16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·　贝叶斯</a:t>
            </a:r>
            <a:r>
              <a:rPr lang="zh-CN" altLang="en-US" sz="16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可靠性评估与优化</a:t>
            </a:r>
            <a:endParaRPr lang="zh-CN" altLang="en-US" sz="1600" b="1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aching-card"/>
          <p:cNvSpPr/>
          <p:nvPr>
            <p:custDataLst>
              <p:tags r:id="rId1"/>
            </p:custDataLst>
          </p:nvPr>
        </p:nvSpPr>
        <p:spPr>
          <a:xfrm>
            <a:off x="457200" y="2260600"/>
            <a:ext cx="3606800" cy="4165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13" name="teaching-accent"/>
          <p:cNvSpPr/>
          <p:nvPr>
            <p:custDataLst>
              <p:tags r:id="rId2"/>
            </p:custDataLst>
          </p:nvPr>
        </p:nvSpPr>
        <p:spPr>
          <a:xfrm>
            <a:off x="457200" y="2260600"/>
            <a:ext cx="63500" cy="4165600"/>
          </a:xfrm>
          <a:prstGeom prst="rect">
            <a:avLst/>
          </a:prstGeom>
          <a:solidFill>
            <a:srgbClr val="3A7CA5"/>
          </a:solidFill>
          <a:ln>
            <a:noFill/>
          </a:ln>
        </p:spPr>
      </p:sp>
      <p:sp>
        <p:nvSpPr>
          <p:cNvPr id="14" name="teaching-icon-bg"/>
          <p:cNvSpPr/>
          <p:nvPr>
            <p:custDataLst>
              <p:tags r:id="rId3"/>
            </p:custDataLst>
          </p:nvPr>
        </p:nvSpPr>
        <p:spPr>
          <a:xfrm>
            <a:off x="711200" y="2451100"/>
            <a:ext cx="406400" cy="406400"/>
          </a:xfrm>
          <a:prstGeom prst="ellipse">
            <a:avLst/>
          </a:prstGeom>
          <a:solidFill>
            <a:srgbClr val="EAF2F7"/>
          </a:solidFill>
          <a:ln>
            <a:noFill/>
          </a:ln>
        </p:spPr>
      </p:sp>
      <p:sp>
        <p:nvSpPr>
          <p:cNvPr id="15" name="teaching-icon"/>
          <p:cNvSpPr/>
          <p:nvPr>
            <p:custDataLst>
              <p:tags r:id="rId4"/>
            </p:custDataLst>
          </p:nvPr>
        </p:nvSpPr>
        <p:spPr>
          <a:xfrm>
            <a:off x="812800" y="2552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8" y="196"/>
                </a:moveTo>
                <a:lnTo>
                  <a:pt x="257" y="282"/>
                </a:lnTo>
                <a:cubicBezTo>
                  <a:pt x="267" y="286"/>
                  <a:pt x="277" y="288"/>
                  <a:pt x="288" y="288"/>
                </a:cubicBezTo>
                <a:cubicBezTo>
                  <a:pt x="299" y="288"/>
                  <a:pt x="309" y="286"/>
                  <a:pt x="319" y="282"/>
                </a:cubicBezTo>
                <a:lnTo>
                  <a:pt x="561" y="182"/>
                </a:lnTo>
                <a:cubicBezTo>
                  <a:pt x="570" y="178"/>
                  <a:pt x="576" y="170"/>
                  <a:pt x="576" y="160"/>
                </a:cubicBezTo>
                <a:cubicBezTo>
                  <a:pt x="576" y="150"/>
                  <a:pt x="570" y="142"/>
                  <a:pt x="561" y="138"/>
                </a:cubicBezTo>
                <a:lnTo>
                  <a:pt x="319" y="38"/>
                </a:lnTo>
                <a:cubicBezTo>
                  <a:pt x="309" y="34"/>
                  <a:pt x="299" y="32"/>
                  <a:pt x="288" y="32"/>
                </a:cubicBezTo>
                <a:cubicBezTo>
                  <a:pt x="277" y="32"/>
                  <a:pt x="267" y="34"/>
                  <a:pt x="257" y="38"/>
                </a:cubicBezTo>
                <a:lnTo>
                  <a:pt x="15" y="138"/>
                </a:lnTo>
                <a:cubicBezTo>
                  <a:pt x="6" y="142"/>
                  <a:pt x="0" y="150"/>
                  <a:pt x="0" y="160"/>
                </a:cubicBezTo>
                <a:lnTo>
                  <a:pt x="0" y="456"/>
                </a:lnTo>
                <a:cubicBezTo>
                  <a:pt x="0" y="469"/>
                  <a:pt x="11" y="480"/>
                  <a:pt x="24" y="480"/>
                </a:cubicBezTo>
                <a:cubicBezTo>
                  <a:pt x="37" y="480"/>
                  <a:pt x="48" y="469"/>
                  <a:pt x="48" y="456"/>
                </a:cubicBezTo>
                <a:lnTo>
                  <a:pt x="48" y="196"/>
                </a:lnTo>
                <a:close/>
                <a:moveTo>
                  <a:pt x="96" y="268"/>
                </a:moveTo>
                <a:lnTo>
                  <a:pt x="96" y="384"/>
                </a:lnTo>
                <a:cubicBezTo>
                  <a:pt x="96" y="437"/>
                  <a:pt x="182" y="480"/>
                  <a:pt x="288" y="480"/>
                </a:cubicBezTo>
                <a:cubicBezTo>
                  <a:pt x="394" y="480"/>
                  <a:pt x="480" y="437"/>
                  <a:pt x="480" y="384"/>
                </a:cubicBezTo>
                <a:lnTo>
                  <a:pt x="480" y="267"/>
                </a:lnTo>
                <a:lnTo>
                  <a:pt x="337" y="326"/>
                </a:lnTo>
                <a:cubicBezTo>
                  <a:pt x="322" y="333"/>
                  <a:pt x="305" y="336"/>
                  <a:pt x="288" y="336"/>
                </a:cubicBezTo>
                <a:cubicBezTo>
                  <a:pt x="271" y="336"/>
                  <a:pt x="255" y="333"/>
                  <a:pt x="239" y="326"/>
                </a:cubicBezTo>
                <a:lnTo>
                  <a:pt x="96" y="267"/>
                </a:lnTo>
                <a:close/>
              </a:path>
            </a:pathLst>
          </a:custGeom>
          <a:solidFill>
            <a:srgbClr val="3A7CA5"/>
          </a:solidFill>
          <a:ln>
            <a:noFill/>
          </a:ln>
        </p:spPr>
      </p:sp>
      <p:sp>
        <p:nvSpPr>
          <p:cNvPr id="16" name="teaching-title"/>
          <p:cNvSpPr txBox="1"/>
          <p:nvPr>
            <p:custDataLst>
              <p:tags r:id="rId5"/>
            </p:custDataLst>
          </p:nvPr>
        </p:nvSpPr>
        <p:spPr>
          <a:xfrm>
            <a:off x="1257300" y="24892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8000"/>
              </a:lnSpc>
            </a:pPr>
            <a:r>
              <a:rPr lang="en-US" sz="16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教学与人才培养</a:t>
            </a:r>
            <a:endParaRPr lang="en-US" sz="1600" noProof="1"/>
          </a:p>
        </p:txBody>
      </p:sp>
      <p:sp>
        <p:nvSpPr>
          <p:cNvPr id="17" name="teaching-metric"/>
          <p:cNvSpPr txBox="1"/>
          <p:nvPr>
            <p:custDataLst>
              <p:tags r:id="rId6"/>
            </p:custDataLst>
          </p:nvPr>
        </p:nvSpPr>
        <p:spPr>
          <a:xfrm>
            <a:off x="711200" y="2997200"/>
            <a:ext cx="1422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4 名</a:t>
            </a:r>
            <a:endParaRPr lang="en-US" sz="2500" noProof="1"/>
          </a:p>
        </p:txBody>
      </p:sp>
      <p:sp>
        <p:nvSpPr>
          <p:cNvPr id="18" name="teaching-metric-label"/>
          <p:cNvSpPr txBox="1"/>
          <p:nvPr>
            <p:custDataLst>
              <p:tags r:id="rId7"/>
            </p:custDataLst>
          </p:nvPr>
        </p:nvSpPr>
        <p:spPr>
          <a:xfrm>
            <a:off x="1727200" y="30988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指导博士生</a:t>
            </a:r>
            <a:endParaRPr lang="en-US" sz="1150" noProof="1"/>
          </a:p>
        </p:txBody>
      </p:sp>
      <p:sp>
        <p:nvSpPr>
          <p:cNvPr id="19" name="teaching-rule"/>
          <p:cNvSpPr/>
          <p:nvPr>
            <p:custDataLst>
              <p:tags r:id="rId8"/>
            </p:custDataLst>
          </p:nvPr>
        </p:nvSpPr>
        <p:spPr>
          <a:xfrm>
            <a:off x="711200" y="3505200"/>
            <a:ext cx="3048000" cy="12700"/>
          </a:xfrm>
          <a:prstGeom prst="rect">
            <a:avLst/>
          </a:prstGeom>
          <a:solidFill>
            <a:srgbClr val="E2EAF0"/>
          </a:solidFill>
          <a:ln>
            <a:noFill/>
          </a:ln>
        </p:spPr>
      </p:sp>
      <p:sp>
        <p:nvSpPr>
          <p:cNvPr id="20" name="teaching-body"/>
          <p:cNvSpPr txBox="1"/>
          <p:nvPr>
            <p:custDataLst>
              <p:tags r:id="rId9"/>
            </p:custDataLst>
          </p:nvPr>
        </p:nvSpPr>
        <p:spPr>
          <a:xfrm>
            <a:off x="711200" y="3670300"/>
            <a:ext cx="3048000" cy="252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6000"/>
              </a:lnSpc>
            </a:pPr>
            <a:r>
              <a:rPr lang="en-US" sz="113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课程教学｜</a:t>
            </a:r>
            <a:r>
              <a:rPr lang="en-US" sz="113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本科开设统计质量管理、贝叶斯数据分析、概率论等；研究生开设可靠性、贝叶斯计算等。</a:t>
            </a:r>
            <a:endParaRPr lang="en-US" sz="1130" noProof="1"/>
          </a:p>
          <a:p>
            <a:pPr algn="l">
              <a:lnSpc>
                <a:spcPct val="136000"/>
              </a:lnSpc>
              <a:spcBef>
                <a:spcPts val="700"/>
              </a:spcBef>
            </a:pPr>
            <a:r>
              <a:rPr lang="en-US" sz="113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人才培养｜</a:t>
            </a:r>
            <a:r>
              <a:rPr lang="en-US" sz="113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13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名博士生获国自然青</a:t>
            </a:r>
            <a:r>
              <a:rPr lang="en-US" altLang="zh-CN" sz="113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altLang="en-US" sz="113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项目、国家博后面上项目、入选国家资助博士后研究人员计划；</a:t>
            </a:r>
            <a:r>
              <a:rPr lang="en-US" sz="113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1 名博士生入选 2026 年中国科协青年科技人才培育工程博士生专项计划。</a:t>
            </a:r>
            <a:endParaRPr lang="en-US" sz="1130" noProof="1"/>
          </a:p>
          <a:p>
            <a:pPr algn="l">
              <a:lnSpc>
                <a:spcPct val="136000"/>
              </a:lnSpc>
              <a:spcBef>
                <a:spcPts val="700"/>
              </a:spcBef>
            </a:pPr>
            <a:r>
              <a:rPr lang="en-US" sz="113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教学</a:t>
            </a:r>
            <a:r>
              <a:rPr lang="zh-CN" altLang="en-US" sz="113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业绩</a:t>
            </a:r>
            <a:r>
              <a:rPr lang="en-US" sz="113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13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2025 年浙江省专业学位研究生优秀教学案例 1 项；浙江工商大学第四届“我心目中的好导师”奖。</a:t>
            </a:r>
            <a:endParaRPr lang="en-US" sz="1130" noProof="1"/>
          </a:p>
        </p:txBody>
      </p:sp>
      <p:sp>
        <p:nvSpPr>
          <p:cNvPr id="21" name="research-card"/>
          <p:cNvSpPr/>
          <p:nvPr>
            <p:custDataLst>
              <p:tags r:id="rId10"/>
            </p:custDataLst>
          </p:nvPr>
        </p:nvSpPr>
        <p:spPr>
          <a:xfrm>
            <a:off x="4267200" y="2260600"/>
            <a:ext cx="3606800" cy="4165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22" name="research-accent"/>
          <p:cNvSpPr/>
          <p:nvPr>
            <p:custDataLst>
              <p:tags r:id="rId11"/>
            </p:custDataLst>
          </p:nvPr>
        </p:nvSpPr>
        <p:spPr>
          <a:xfrm>
            <a:off x="4267200" y="2260600"/>
            <a:ext cx="63500" cy="4165600"/>
          </a:xfrm>
          <a:prstGeom prst="rect">
            <a:avLst/>
          </a:prstGeom>
          <a:solidFill>
            <a:srgbClr val="123A63"/>
          </a:solidFill>
          <a:ln>
            <a:noFill/>
          </a:ln>
        </p:spPr>
      </p:sp>
      <p:sp>
        <p:nvSpPr>
          <p:cNvPr id="23" name="research-icon-bg"/>
          <p:cNvSpPr/>
          <p:nvPr>
            <p:custDataLst>
              <p:tags r:id="rId12"/>
            </p:custDataLst>
          </p:nvPr>
        </p:nvSpPr>
        <p:spPr>
          <a:xfrm>
            <a:off x="4521200" y="2451100"/>
            <a:ext cx="406400" cy="406400"/>
          </a:xfrm>
          <a:prstGeom prst="ellipse">
            <a:avLst/>
          </a:prstGeom>
          <a:solidFill>
            <a:srgbClr val="EAF2F7"/>
          </a:solidFill>
          <a:ln>
            <a:noFill/>
          </a:ln>
        </p:spPr>
      </p:sp>
      <p:sp>
        <p:nvSpPr>
          <p:cNvPr id="24" name="research-card-icon"/>
          <p:cNvSpPr/>
          <p:nvPr>
            <p:custDataLst>
              <p:tags r:id="rId13"/>
            </p:custDataLst>
          </p:nvPr>
        </p:nvSpPr>
        <p:spPr>
          <a:xfrm>
            <a:off x="4622800" y="2552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3A7CA5"/>
          </a:solidFill>
          <a:ln>
            <a:noFill/>
          </a:ln>
        </p:spPr>
      </p:sp>
      <p:sp>
        <p:nvSpPr>
          <p:cNvPr id="25" name="research-card-title"/>
          <p:cNvSpPr txBox="1"/>
          <p:nvPr>
            <p:custDataLst>
              <p:tags r:id="rId14"/>
            </p:custDataLst>
          </p:nvPr>
        </p:nvSpPr>
        <p:spPr>
          <a:xfrm>
            <a:off x="5067300" y="24892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8000"/>
              </a:lnSpc>
            </a:pPr>
            <a:r>
              <a:rPr lang="en-US" sz="16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科学研究</a:t>
            </a:r>
            <a:endParaRPr lang="en-US" sz="1600" noProof="1"/>
          </a:p>
        </p:txBody>
      </p:sp>
      <p:sp>
        <p:nvSpPr>
          <p:cNvPr id="26" name="research-metric"/>
          <p:cNvSpPr txBox="1"/>
          <p:nvPr>
            <p:custDataLst>
              <p:tags r:id="rId15"/>
            </p:custDataLst>
          </p:nvPr>
        </p:nvSpPr>
        <p:spPr>
          <a:xfrm>
            <a:off x="4521200" y="2997200"/>
            <a:ext cx="1422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60 余篇</a:t>
            </a:r>
            <a:endParaRPr lang="en-US" sz="2500" noProof="1"/>
          </a:p>
        </p:txBody>
      </p:sp>
      <p:sp>
        <p:nvSpPr>
          <p:cNvPr id="27" name="research-metric-label"/>
          <p:cNvSpPr txBox="1"/>
          <p:nvPr>
            <p:custDataLst>
              <p:tags r:id="rId16"/>
            </p:custDataLst>
          </p:nvPr>
        </p:nvSpPr>
        <p:spPr>
          <a:xfrm>
            <a:off x="5905500" y="3035300"/>
            <a:ext cx="17145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05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第一或通讯作者论文</a:t>
            </a:r>
            <a:endParaRPr lang="en-US" sz="1050" noProof="1"/>
          </a:p>
          <a:p>
            <a:pPr algn="l">
              <a:lnSpc>
                <a:spcPct val="125000"/>
              </a:lnSpc>
            </a:pPr>
            <a:r>
              <a:rPr lang="en-US" sz="105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ESI 高被引 6 篇</a:t>
            </a:r>
            <a:endParaRPr lang="en-US" sz="1050" noProof="1"/>
          </a:p>
        </p:txBody>
      </p:sp>
      <p:sp>
        <p:nvSpPr>
          <p:cNvPr id="28" name="research-rule"/>
          <p:cNvSpPr/>
          <p:nvPr>
            <p:custDataLst>
              <p:tags r:id="rId17"/>
            </p:custDataLst>
          </p:nvPr>
        </p:nvSpPr>
        <p:spPr>
          <a:xfrm>
            <a:off x="4521200" y="3505200"/>
            <a:ext cx="3048000" cy="12700"/>
          </a:xfrm>
          <a:prstGeom prst="rect">
            <a:avLst/>
          </a:prstGeom>
          <a:solidFill>
            <a:srgbClr val="E2EAF0"/>
          </a:solidFill>
          <a:ln>
            <a:noFill/>
          </a:ln>
        </p:spPr>
      </p:sp>
      <p:sp>
        <p:nvSpPr>
          <p:cNvPr id="29" name="research-body"/>
          <p:cNvSpPr txBox="1"/>
          <p:nvPr>
            <p:custDataLst>
              <p:tags r:id="rId18"/>
            </p:custDataLst>
          </p:nvPr>
        </p:nvSpPr>
        <p:spPr>
          <a:xfrm>
            <a:off x="4521200" y="3670300"/>
            <a:ext cx="3048000" cy="252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4000"/>
              </a:lnSpc>
            </a:pPr>
            <a:r>
              <a:rPr lang="en-US" sz="113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论文成果｜</a:t>
            </a:r>
            <a:r>
              <a:rPr lang="en-US" sz="113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发表于 NRL、SJS、JQT、EJOR、IEEE TR、IISE Transactions 等期刊。</a:t>
            </a:r>
            <a:endParaRPr lang="en-US" sz="1130" noProof="1"/>
          </a:p>
          <a:p>
            <a:pPr algn="l">
              <a:lnSpc>
                <a:spcPct val="134000"/>
              </a:lnSpc>
              <a:spcBef>
                <a:spcPts val="600"/>
              </a:spcBef>
            </a:pPr>
            <a:r>
              <a:rPr lang="en-US" sz="113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学术专著｜</a:t>
            </a:r>
            <a:r>
              <a:rPr lang="en-US" sz="113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《随机退化过程与统计建模》。</a:t>
            </a:r>
            <a:endParaRPr lang="en-US" sz="1130" noProof="1"/>
          </a:p>
          <a:p>
            <a:pPr algn="l">
              <a:lnSpc>
                <a:spcPct val="134000"/>
              </a:lnSpc>
              <a:spcBef>
                <a:spcPts val="600"/>
              </a:spcBef>
            </a:pPr>
            <a:r>
              <a:rPr lang="en-US" sz="113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科研项目｜</a:t>
            </a:r>
            <a:r>
              <a:rPr lang="en-US" sz="113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主持国家自然科学基金青年项目 1 项、面上项目 3 项，以及浙江省自然科学基金重点项目等。</a:t>
            </a:r>
            <a:endParaRPr lang="en-US" sz="1130" noProof="1"/>
          </a:p>
          <a:p>
            <a:pPr algn="l">
              <a:lnSpc>
                <a:spcPct val="134000"/>
              </a:lnSpc>
              <a:spcBef>
                <a:spcPts val="600"/>
              </a:spcBef>
            </a:pPr>
            <a:r>
              <a:rPr lang="en-US" sz="113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科研奖励｜</a:t>
            </a:r>
            <a:r>
              <a:rPr lang="en-US" sz="113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获浙江省自然科学奖、福建省自然科学奖、第一届全国统计科技进步奖。</a:t>
            </a:r>
            <a:endParaRPr lang="en-US" sz="1130" noProof="1"/>
          </a:p>
        </p:txBody>
      </p:sp>
      <p:sp>
        <p:nvSpPr>
          <p:cNvPr id="30" name="service-card"/>
          <p:cNvSpPr/>
          <p:nvPr>
            <p:custDataLst>
              <p:tags r:id="rId19"/>
            </p:custDataLst>
          </p:nvPr>
        </p:nvSpPr>
        <p:spPr>
          <a:xfrm>
            <a:off x="8077200" y="2260600"/>
            <a:ext cx="3632200" cy="4165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31" name="service-accent"/>
          <p:cNvSpPr/>
          <p:nvPr>
            <p:custDataLst>
              <p:tags r:id="rId20"/>
            </p:custDataLst>
          </p:nvPr>
        </p:nvSpPr>
        <p:spPr>
          <a:xfrm>
            <a:off x="8077200" y="2260600"/>
            <a:ext cx="63500" cy="4165600"/>
          </a:xfrm>
          <a:prstGeom prst="rect">
            <a:avLst/>
          </a:prstGeom>
          <a:solidFill>
            <a:srgbClr val="0A1F3D"/>
          </a:solidFill>
          <a:ln>
            <a:noFill/>
          </a:ln>
        </p:spPr>
      </p:sp>
      <p:sp>
        <p:nvSpPr>
          <p:cNvPr id="32" name="service-icon-bg"/>
          <p:cNvSpPr/>
          <p:nvPr>
            <p:custDataLst>
              <p:tags r:id="rId21"/>
            </p:custDataLst>
          </p:nvPr>
        </p:nvSpPr>
        <p:spPr>
          <a:xfrm>
            <a:off x="8331200" y="2451100"/>
            <a:ext cx="406400" cy="406400"/>
          </a:xfrm>
          <a:prstGeom prst="ellipse">
            <a:avLst/>
          </a:prstGeom>
          <a:solidFill>
            <a:srgbClr val="EAF2F7"/>
          </a:solidFill>
          <a:ln>
            <a:noFill/>
          </a:ln>
        </p:spPr>
      </p:sp>
      <p:sp>
        <p:nvSpPr>
          <p:cNvPr id="33" name="service-icon"/>
          <p:cNvSpPr/>
          <p:nvPr>
            <p:custDataLst>
              <p:tags r:id="rId22"/>
            </p:custDataLst>
          </p:nvPr>
        </p:nvSpPr>
        <p:spPr>
          <a:xfrm>
            <a:off x="8432800" y="2552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9" y="85"/>
                </a:moveTo>
                <a:lnTo>
                  <a:pt x="152" y="215"/>
                </a:lnTo>
                <a:cubicBezTo>
                  <a:pt x="148" y="220"/>
                  <a:pt x="148" y="228"/>
                  <a:pt x="153" y="233"/>
                </a:cubicBezTo>
                <a:cubicBezTo>
                  <a:pt x="183" y="263"/>
                  <a:pt x="233" y="263"/>
                  <a:pt x="263" y="233"/>
                </a:cubicBezTo>
                <a:lnTo>
                  <a:pt x="295" y="201"/>
                </a:lnTo>
                <a:cubicBezTo>
                  <a:pt x="299" y="197"/>
                  <a:pt x="305" y="194"/>
                  <a:pt x="310" y="194"/>
                </a:cubicBezTo>
                <a:cubicBezTo>
                  <a:pt x="317" y="193"/>
                  <a:pt x="324" y="196"/>
                  <a:pt x="329" y="201"/>
                </a:cubicBezTo>
                <a:lnTo>
                  <a:pt x="506" y="376"/>
                </a:lnTo>
                <a:lnTo>
                  <a:pt x="576" y="320"/>
                </a:lnTo>
                <a:lnTo>
                  <a:pt x="576" y="32"/>
                </a:lnTo>
                <a:lnTo>
                  <a:pt x="464" y="96"/>
                </a:lnTo>
                <a:lnTo>
                  <a:pt x="440" y="80"/>
                </a:lnTo>
                <a:cubicBezTo>
                  <a:pt x="424" y="70"/>
                  <a:pt x="406" y="64"/>
                  <a:pt x="387" y="64"/>
                </a:cubicBezTo>
                <a:lnTo>
                  <a:pt x="317" y="64"/>
                </a:lnTo>
                <a:cubicBezTo>
                  <a:pt x="315" y="64"/>
                  <a:pt x="314" y="64"/>
                  <a:pt x="313" y="64"/>
                </a:cubicBezTo>
                <a:cubicBezTo>
                  <a:pt x="296" y="65"/>
                  <a:pt x="280" y="73"/>
                  <a:pt x="269" y="85"/>
                </a:cubicBezTo>
                <a:close/>
                <a:moveTo>
                  <a:pt x="117" y="183"/>
                </a:moveTo>
                <a:lnTo>
                  <a:pt x="223" y="64"/>
                </a:lnTo>
                <a:lnTo>
                  <a:pt x="184" y="64"/>
                </a:lnTo>
                <a:cubicBezTo>
                  <a:pt x="158" y="64"/>
                  <a:pt x="134" y="74"/>
                  <a:pt x="116" y="92"/>
                </a:cubicBezTo>
                <a:lnTo>
                  <a:pt x="112" y="96"/>
                </a:lnTo>
                <a:lnTo>
                  <a:pt x="0" y="32"/>
                </a:lnTo>
                <a:lnTo>
                  <a:pt x="0" y="320"/>
                </a:lnTo>
                <a:lnTo>
                  <a:pt x="156" y="450"/>
                </a:lnTo>
                <a:cubicBezTo>
                  <a:pt x="179" y="470"/>
                  <a:pt x="208" y="480"/>
                  <a:pt x="238" y="480"/>
                </a:cubicBezTo>
                <a:lnTo>
                  <a:pt x="254" y="480"/>
                </a:lnTo>
                <a:lnTo>
                  <a:pt x="247" y="473"/>
                </a:lnTo>
                <a:cubicBezTo>
                  <a:pt x="238" y="464"/>
                  <a:pt x="238" y="448"/>
                  <a:pt x="247" y="439"/>
                </a:cubicBezTo>
                <a:cubicBezTo>
                  <a:pt x="256" y="430"/>
                  <a:pt x="272" y="430"/>
                  <a:pt x="281" y="439"/>
                </a:cubicBezTo>
                <a:lnTo>
                  <a:pt x="322" y="480"/>
                </a:lnTo>
                <a:lnTo>
                  <a:pt x="331" y="480"/>
                </a:lnTo>
                <a:cubicBezTo>
                  <a:pt x="350" y="480"/>
                  <a:pt x="369" y="476"/>
                  <a:pt x="386" y="468"/>
                </a:cubicBezTo>
                <a:lnTo>
                  <a:pt x="359" y="441"/>
                </a:lnTo>
                <a:cubicBezTo>
                  <a:pt x="350" y="432"/>
                  <a:pt x="350" y="416"/>
                  <a:pt x="359" y="407"/>
                </a:cubicBezTo>
                <a:cubicBezTo>
                  <a:pt x="368" y="398"/>
                  <a:pt x="384" y="398"/>
                  <a:pt x="393" y="407"/>
                </a:cubicBezTo>
                <a:lnTo>
                  <a:pt x="425" y="439"/>
                </a:lnTo>
                <a:lnTo>
                  <a:pt x="442" y="422"/>
                </a:lnTo>
                <a:cubicBezTo>
                  <a:pt x="451" y="413"/>
                  <a:pt x="454" y="400"/>
                  <a:pt x="450" y="389"/>
                </a:cubicBezTo>
                <a:lnTo>
                  <a:pt x="312" y="252"/>
                </a:lnTo>
                <a:lnTo>
                  <a:pt x="297" y="267"/>
                </a:lnTo>
                <a:cubicBezTo>
                  <a:pt x="248" y="316"/>
                  <a:pt x="168" y="316"/>
                  <a:pt x="119" y="267"/>
                </a:cubicBezTo>
                <a:cubicBezTo>
                  <a:pt x="96" y="244"/>
                  <a:pt x="95" y="207"/>
                  <a:pt x="117" y="183"/>
                </a:cubicBezTo>
                <a:close/>
              </a:path>
            </a:pathLst>
          </a:custGeom>
          <a:solidFill>
            <a:srgbClr val="3A7CA5"/>
          </a:solidFill>
          <a:ln>
            <a:noFill/>
          </a:ln>
        </p:spPr>
      </p:sp>
      <p:sp>
        <p:nvSpPr>
          <p:cNvPr id="34" name="service-title"/>
          <p:cNvSpPr txBox="1"/>
          <p:nvPr>
            <p:custDataLst>
              <p:tags r:id="rId23"/>
            </p:custDataLst>
          </p:nvPr>
        </p:nvSpPr>
        <p:spPr>
          <a:xfrm>
            <a:off x="8877300" y="24892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8000"/>
              </a:lnSpc>
            </a:pPr>
            <a:r>
              <a:rPr lang="en-US" sz="16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社会服务</a:t>
            </a:r>
            <a:endParaRPr lang="en-US" sz="1600" noProof="1"/>
          </a:p>
        </p:txBody>
      </p:sp>
      <p:sp>
        <p:nvSpPr>
          <p:cNvPr id="35" name="service-metric"/>
          <p:cNvSpPr txBox="1"/>
          <p:nvPr>
            <p:custDataLst>
              <p:tags r:id="rId24"/>
            </p:custDataLst>
          </p:nvPr>
        </p:nvSpPr>
        <p:spPr>
          <a:xfrm>
            <a:off x="8331200" y="3022600"/>
            <a:ext cx="149860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多方协作</a:t>
            </a:r>
            <a:endParaRPr lang="en-US" sz="2200" noProof="1"/>
          </a:p>
        </p:txBody>
      </p:sp>
      <p:sp>
        <p:nvSpPr>
          <p:cNvPr id="36" name="service-metric-label"/>
          <p:cNvSpPr txBox="1"/>
          <p:nvPr>
            <p:custDataLst>
              <p:tags r:id="rId25"/>
            </p:custDataLst>
          </p:nvPr>
        </p:nvSpPr>
        <p:spPr>
          <a:xfrm>
            <a:off x="9817100" y="30988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8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企业 · 医院 · 药监</a:t>
            </a:r>
            <a:endParaRPr lang="en-US" sz="1080" noProof="1"/>
          </a:p>
        </p:txBody>
      </p:sp>
      <p:sp>
        <p:nvSpPr>
          <p:cNvPr id="37" name="service-rule"/>
          <p:cNvSpPr/>
          <p:nvPr>
            <p:custDataLst>
              <p:tags r:id="rId26"/>
            </p:custDataLst>
          </p:nvPr>
        </p:nvSpPr>
        <p:spPr>
          <a:xfrm>
            <a:off x="8331200" y="3505200"/>
            <a:ext cx="3073400" cy="12700"/>
          </a:xfrm>
          <a:prstGeom prst="rect">
            <a:avLst/>
          </a:prstGeom>
          <a:solidFill>
            <a:srgbClr val="E2EAF0"/>
          </a:solidFill>
          <a:ln>
            <a:noFill/>
          </a:ln>
        </p:spPr>
      </p:sp>
      <p:sp>
        <p:nvSpPr>
          <p:cNvPr id="38" name="service-body"/>
          <p:cNvSpPr txBox="1"/>
          <p:nvPr>
            <p:custDataLst>
              <p:tags r:id="rId27"/>
            </p:custDataLst>
          </p:nvPr>
        </p:nvSpPr>
        <p:spPr>
          <a:xfrm>
            <a:off x="8331200" y="3670300"/>
            <a:ext cx="3073400" cy="252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2000"/>
              </a:lnSpc>
            </a:pPr>
            <a:r>
              <a:rPr lang="en-US" sz="111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学术兼职｜</a:t>
            </a:r>
            <a:r>
              <a:rPr lang="en-US" sz="111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中国运筹学会可靠性分会副理事长；中国现场统计研究会可靠性工程分会、大数据统计分会常务理事。</a:t>
            </a:r>
            <a:endParaRPr lang="en-US" sz="1110" noProof="1"/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lang="en-US" sz="111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期刊服务｜</a:t>
            </a:r>
            <a:r>
              <a:rPr lang="en-US" sz="111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Statistical Theory and Related Fields 副主编。</a:t>
            </a:r>
            <a:endParaRPr lang="en-US" sz="1110" noProof="1"/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lang="en-US" sz="111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企业合作｜</a:t>
            </a:r>
            <a:r>
              <a:rPr lang="en-US" sz="111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与华为等企业合作开展小子样可靠性分析、隐患预警。</a:t>
            </a:r>
            <a:endParaRPr lang="en-US" sz="1110" noProof="1"/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lang="en-US" sz="111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医学与药监｜</a:t>
            </a:r>
            <a:r>
              <a:rPr lang="en-US" sz="111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与浙江大学医学院附属第一医院病理科开展多中心医学数据分析；与杭州市药监局开展药物不良反应分析。</a:t>
            </a:r>
            <a:endParaRPr lang="en-US" sz="1110" noProof="1"/>
          </a:p>
        </p:txBody>
      </p:sp>
      <p:sp>
        <p:nvSpPr>
          <p:cNvPr id="39" name="footer-bar"/>
          <p:cNvSpPr/>
          <p:nvPr/>
        </p:nvSpPr>
        <p:spPr>
          <a:xfrm>
            <a:off x="0" y="6638290"/>
            <a:ext cx="12192000" cy="219710"/>
          </a:xfrm>
          <a:prstGeom prst="rect">
            <a:avLst/>
          </a:prstGeom>
          <a:solidFill>
            <a:srgbClr val="0A1F3D"/>
          </a:solidFill>
          <a:ln>
            <a:noFill/>
          </a:ln>
        </p:spPr>
      </p:sp>
      <p:sp>
        <p:nvSpPr>
          <p:cNvPr id="40" name="footer-name"/>
          <p:cNvSpPr txBox="1"/>
          <p:nvPr/>
        </p:nvSpPr>
        <p:spPr>
          <a:xfrm>
            <a:off x="494030" y="6657340"/>
            <a:ext cx="92532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8000"/>
              </a:lnSpc>
            </a:pPr>
            <a:r>
              <a:rPr lang="en-US" sz="1000" noProof="1">
                <a:solidFill>
                  <a:srgbClr val="B8CDDE"/>
                </a:solidFill>
                <a:latin typeface="微软雅黑" panose="020B0503020204020204" charset="-122"/>
                <a:ea typeface="微软雅黑" panose="020B0503020204020204" charset="-122"/>
              </a:rPr>
              <a:t>徐安察    浙江工商大学统计与数据科学学院</a:t>
            </a:r>
            <a:endParaRPr lang="en-US" sz="1000" noProof="1"/>
          </a:p>
        </p:txBody>
      </p:sp>
      <p:sp>
        <p:nvSpPr>
          <p:cNvPr id="41" name="footer-page"/>
          <p:cNvSpPr txBox="1"/>
          <p:nvPr/>
        </p:nvSpPr>
        <p:spPr>
          <a:xfrm>
            <a:off x="10552430" y="6657340"/>
            <a:ext cx="12065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18000"/>
              </a:lnSpc>
            </a:pPr>
            <a:r>
              <a:rPr lang="en-US" sz="1000" noProof="1">
                <a:solidFill>
                  <a:srgbClr val="C5D6E6"/>
                </a:solidFill>
                <a:latin typeface="微软雅黑" panose="020B0503020204020204" charset="-122"/>
                <a:ea typeface="微软雅黑" panose="020B0503020204020204" charset="-122"/>
              </a:rPr>
              <a:t>01  /  04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2000" cy="73660"/>
          </a:xfrm>
          <a:prstGeom prst="rect">
            <a:avLst/>
          </a:prstGeom>
          <a:gradFill rotWithShape="1">
            <a:gsLst>
              <a:gs pos="0">
                <a:srgbClr val="0A1F3D"/>
              </a:gs>
              <a:gs pos="100000">
                <a:srgbClr val="1E4E7A"/>
              </a:gs>
            </a:gsLst>
            <a:lin ang="0" scaled="1"/>
          </a:gra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539750" y="256540"/>
            <a:ext cx="11082020" cy="2006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1200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背景｜高可靠时代的评估难题</a:t>
            </a:r>
            <a:endParaRPr lang="en-US" sz="1200" noProof="1"/>
          </a:p>
        </p:txBody>
      </p:sp>
      <p:sp>
        <p:nvSpPr>
          <p:cNvPr id="4" name="page-title"/>
          <p:cNvSpPr txBox="1"/>
          <p:nvPr/>
        </p:nvSpPr>
        <p:spPr>
          <a:xfrm>
            <a:off x="539750" y="494030"/>
            <a:ext cx="110820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24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en-US" sz="2400" noProof="1"/>
          </a:p>
        </p:txBody>
      </p:sp>
      <p:sp>
        <p:nvSpPr>
          <p:cNvPr id="5" name="title-rule"/>
          <p:cNvSpPr/>
          <p:nvPr/>
        </p:nvSpPr>
        <p:spPr>
          <a:xfrm>
            <a:off x="502920" y="932180"/>
            <a:ext cx="383540" cy="36830"/>
          </a:xfrm>
          <a:prstGeom prst="rect">
            <a:avLst/>
          </a:prstGeom>
          <a:solidFill>
            <a:srgbClr val="3A7CA5"/>
          </a:solidFill>
          <a:ln>
            <a:noFill/>
          </a:ln>
        </p:spPr>
      </p:sp>
      <p:sp>
        <p:nvSpPr>
          <p:cNvPr id="6" name="background-card"/>
          <p:cNvSpPr/>
          <p:nvPr/>
        </p:nvSpPr>
        <p:spPr>
          <a:xfrm>
            <a:off x="457200" y="1115060"/>
            <a:ext cx="7188200" cy="22885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7" name="background-accent"/>
          <p:cNvSpPr/>
          <p:nvPr/>
        </p:nvSpPr>
        <p:spPr>
          <a:xfrm>
            <a:off x="457200" y="1115060"/>
            <a:ext cx="63500" cy="2288540"/>
          </a:xfrm>
          <a:prstGeom prst="rect">
            <a:avLst/>
          </a:prstGeom>
          <a:solidFill>
            <a:srgbClr val="3A7CA5"/>
          </a:solidFill>
          <a:ln>
            <a:noFill/>
          </a:ln>
        </p:spPr>
      </p:sp>
      <p:sp>
        <p:nvSpPr>
          <p:cNvPr id="8" name="conflict-label"/>
          <p:cNvSpPr txBox="1"/>
          <p:nvPr/>
        </p:nvSpPr>
        <p:spPr>
          <a:xfrm>
            <a:off x="736600" y="12700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现实矛盾</a:t>
            </a:r>
            <a:endParaRPr lang="en-US" sz="1150" noProof="1"/>
          </a:p>
        </p:txBody>
      </p:sp>
      <p:sp>
        <p:nvSpPr>
          <p:cNvPr id="9" name="background-headline"/>
          <p:cNvSpPr txBox="1"/>
          <p:nvPr/>
        </p:nvSpPr>
        <p:spPr>
          <a:xfrm>
            <a:off x="736600" y="1549400"/>
            <a:ext cx="66040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8000"/>
              </a:lnSpc>
            </a:pPr>
            <a:r>
              <a:rPr lang="en-US" sz="21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产品越可靠、寿命越长，越难在有限试验期内</a:t>
            </a:r>
            <a:endParaRPr lang="en-US" sz="2100" noProof="1"/>
          </a:p>
          <a:p>
            <a:pPr algn="l">
              <a:lnSpc>
                <a:spcPct val="128000"/>
              </a:lnSpc>
            </a:pPr>
            <a:r>
              <a:rPr lang="en-US" sz="21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获得足够失效样本</a:t>
            </a:r>
            <a:endParaRPr lang="en-US" sz="2100" noProof="1"/>
          </a:p>
        </p:txBody>
      </p:sp>
      <p:sp>
        <p:nvSpPr>
          <p:cNvPr id="10" name="background-body"/>
          <p:cNvSpPr txBox="1"/>
          <p:nvPr/>
        </p:nvSpPr>
        <p:spPr>
          <a:xfrm>
            <a:off x="736600" y="2413000"/>
            <a:ext cx="6604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2000"/>
              </a:lnSpc>
            </a:pPr>
            <a:r>
              <a:rPr lang="en-US" sz="125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高端装备、电子元器件与航空产品试验成本高、失效样本少，寿命数据往往以删失为主。与此同时，电流、裂纹、光强、转矩等退化指标可持续观测，为可靠性评估提供比失效时间更丰富的过程信息。</a:t>
            </a:r>
            <a:endParaRPr lang="en-US" sz="1250" noProof="1"/>
          </a:p>
        </p:txBody>
      </p:sp>
      <p:pic>
        <p:nvPicPr>
          <p:cNvPr id="11" name="engine-image"/>
          <p:cNvPicPr/>
          <p:nvPr/>
        </p:nvPicPr>
        <p:blipFill>
          <a:blip r:embed="rId1"/>
          <a:srcRect l="24982" r="24982"/>
          <a:stretch>
            <a:fillRect/>
          </a:stretch>
        </p:blipFill>
        <p:spPr>
          <a:xfrm>
            <a:off x="7797800" y="1115060"/>
            <a:ext cx="1905000" cy="2288540"/>
          </a:xfrm>
          <a:prstGeom prst="roundRect">
            <a:avLst>
              <a:gd name="adj" fmla="val 5000"/>
            </a:avLst>
          </a:prstGeom>
          <a:ln>
            <a:noFill/>
          </a:ln>
        </p:spPr>
      </p:pic>
      <p:sp>
        <p:nvSpPr>
          <p:cNvPr id="12" name="engine-overlay"/>
          <p:cNvSpPr/>
          <p:nvPr/>
        </p:nvSpPr>
        <p:spPr>
          <a:xfrm>
            <a:off x="7797800" y="2971800"/>
            <a:ext cx="1905000" cy="431800"/>
          </a:xfrm>
          <a:prstGeom prst="rect">
            <a:avLst/>
          </a:prstGeom>
          <a:solidFill>
            <a:srgbClr val="0A1F3D">
              <a:alpha val="74902"/>
            </a:srgbClr>
          </a:solidFill>
          <a:ln>
            <a:noFill/>
          </a:ln>
        </p:spPr>
      </p:sp>
      <p:sp>
        <p:nvSpPr>
          <p:cNvPr id="13" name="engine-caption"/>
          <p:cNvSpPr txBox="1"/>
          <p:nvPr/>
        </p:nvSpPr>
        <p:spPr>
          <a:xfrm>
            <a:off x="7924800" y="30607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航空产品｜</a:t>
            </a: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多性能退化</a:t>
            </a:r>
            <a:endParaRPr lang="zh-CN" altLang="en-US" sz="1050" b="1" noProof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chip-image"/>
          <p:cNvPicPr/>
          <p:nvPr/>
        </p:nvPicPr>
        <p:blipFill>
          <a:blip r:embed="rId2"/>
          <a:srcRect l="22253" r="22253"/>
          <a:stretch>
            <a:fillRect/>
          </a:stretch>
        </p:blipFill>
        <p:spPr>
          <a:xfrm>
            <a:off x="9804400" y="1115060"/>
            <a:ext cx="1905000" cy="2288540"/>
          </a:xfrm>
          <a:prstGeom prst="roundRect">
            <a:avLst>
              <a:gd name="adj" fmla="val 5000"/>
            </a:avLst>
          </a:prstGeom>
          <a:ln>
            <a:noFill/>
          </a:ln>
        </p:spPr>
      </p:pic>
      <p:sp>
        <p:nvSpPr>
          <p:cNvPr id="15" name="chip-overlay"/>
          <p:cNvSpPr/>
          <p:nvPr/>
        </p:nvSpPr>
        <p:spPr>
          <a:xfrm>
            <a:off x="9804400" y="2971800"/>
            <a:ext cx="1905000" cy="431800"/>
          </a:xfrm>
          <a:prstGeom prst="rect">
            <a:avLst/>
          </a:prstGeom>
          <a:solidFill>
            <a:srgbClr val="0A1F3D">
              <a:alpha val="74902"/>
            </a:srgbClr>
          </a:solidFill>
          <a:ln>
            <a:noFill/>
          </a:ln>
        </p:spPr>
      </p:sp>
      <p:sp>
        <p:nvSpPr>
          <p:cNvPr id="16" name="chip-caption"/>
          <p:cNvSpPr txBox="1"/>
          <p:nvPr/>
        </p:nvSpPr>
        <p:spPr>
          <a:xfrm>
            <a:off x="9931400" y="30607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电子元器件｜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高可靠、长寿命</a:t>
            </a:r>
            <a:endParaRPr lang="en-US" sz="1050" noProof="1"/>
          </a:p>
        </p:txBody>
      </p:sp>
      <p:sp>
        <p:nvSpPr>
          <p:cNvPr id="17" name="questions-heading"/>
          <p:cNvSpPr txBox="1"/>
          <p:nvPr/>
        </p:nvSpPr>
        <p:spPr>
          <a:xfrm>
            <a:off x="494030" y="3556000"/>
            <a:ext cx="1117346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由此形成的四个关键问题</a:t>
            </a:r>
            <a:endParaRPr lang="en-US" sz="1400" noProof="1"/>
          </a:p>
        </p:txBody>
      </p:sp>
      <p:sp>
        <p:nvSpPr>
          <p:cNvPr id="18" name="q1-card"/>
          <p:cNvSpPr/>
          <p:nvPr/>
        </p:nvSpPr>
        <p:spPr>
          <a:xfrm>
            <a:off x="457200" y="3911600"/>
            <a:ext cx="27127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19" name="q1-number"/>
          <p:cNvSpPr txBox="1"/>
          <p:nvPr/>
        </p:nvSpPr>
        <p:spPr>
          <a:xfrm>
            <a:off x="635000" y="4064000"/>
            <a:ext cx="23495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150" noProof="1"/>
          </a:p>
        </p:txBody>
      </p:sp>
      <p:sp>
        <p:nvSpPr>
          <p:cNvPr id="20" name="q1-title"/>
          <p:cNvSpPr txBox="1"/>
          <p:nvPr/>
        </p:nvSpPr>
        <p:spPr>
          <a:xfrm>
            <a:off x="635000" y="4343400"/>
            <a:ext cx="2349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小样本下如何可信评估？</a:t>
            </a:r>
            <a:endParaRPr lang="en-US" sz="1400" noProof="1"/>
          </a:p>
        </p:txBody>
      </p:sp>
      <p:sp>
        <p:nvSpPr>
          <p:cNvPr id="21" name="q1-body"/>
          <p:cNvSpPr txBox="1"/>
          <p:nvPr/>
        </p:nvSpPr>
        <p:spPr>
          <a:xfrm>
            <a:off x="635000" y="4749800"/>
            <a:ext cx="23495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8000"/>
              </a:lnSpc>
            </a:pPr>
            <a:r>
              <a:rPr lang="en-US" sz="120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失效少、删失多，样本信息有限，先验设定可能明显影响后验结论。如何减少主观性，并合理配置试验资源？</a:t>
            </a:r>
            <a:endParaRPr lang="en-US" sz="1200" noProof="1"/>
          </a:p>
        </p:txBody>
      </p:sp>
      <p:sp>
        <p:nvSpPr>
          <p:cNvPr id="22" name="q1-tag"/>
          <p:cNvSpPr txBox="1"/>
          <p:nvPr/>
        </p:nvSpPr>
        <p:spPr>
          <a:xfrm>
            <a:off x="635000" y="601980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关注：先验设定与试验设计</a:t>
            </a:r>
            <a:endParaRPr lang="en-US" sz="1050" noProof="1"/>
          </a:p>
        </p:txBody>
      </p:sp>
      <p:sp>
        <p:nvSpPr>
          <p:cNvPr id="23" name="q2-card"/>
          <p:cNvSpPr/>
          <p:nvPr/>
        </p:nvSpPr>
        <p:spPr>
          <a:xfrm>
            <a:off x="3302000" y="3911600"/>
            <a:ext cx="27127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24" name="q2-number"/>
          <p:cNvSpPr txBox="1"/>
          <p:nvPr/>
        </p:nvSpPr>
        <p:spPr>
          <a:xfrm>
            <a:off x="3479800" y="4064000"/>
            <a:ext cx="23495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150" noProof="1"/>
          </a:p>
        </p:txBody>
      </p:sp>
      <p:sp>
        <p:nvSpPr>
          <p:cNvPr id="25" name="q2-title"/>
          <p:cNvSpPr txBox="1"/>
          <p:nvPr/>
        </p:nvSpPr>
        <p:spPr>
          <a:xfrm>
            <a:off x="3479800" y="4343400"/>
            <a:ext cx="2349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多指标相依如何联合评估？</a:t>
            </a:r>
            <a:endParaRPr lang="en-US" sz="1350" noProof="1"/>
          </a:p>
        </p:txBody>
      </p:sp>
      <p:sp>
        <p:nvSpPr>
          <p:cNvPr id="26" name="q2-body"/>
          <p:cNvSpPr txBox="1"/>
          <p:nvPr/>
        </p:nvSpPr>
        <p:spPr>
          <a:xfrm>
            <a:off x="3479800" y="4749800"/>
            <a:ext cx="23495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8000"/>
              </a:lnSpc>
            </a:pPr>
            <a:r>
              <a:rPr lang="en-US" sz="120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多个性能指标同步退化，速率、波动与尾部风险相互关联。如何避免单指标或独立假设低估系统风险？</a:t>
            </a:r>
            <a:endParaRPr lang="en-US" sz="1200" noProof="1"/>
          </a:p>
        </p:txBody>
      </p:sp>
      <p:sp>
        <p:nvSpPr>
          <p:cNvPr id="27" name="q2-tag"/>
          <p:cNvSpPr txBox="1"/>
          <p:nvPr/>
        </p:nvSpPr>
        <p:spPr>
          <a:xfrm>
            <a:off x="3479800" y="601980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关注：相依结构与尾部风险</a:t>
            </a:r>
            <a:endParaRPr lang="en-US" sz="1050" noProof="1"/>
          </a:p>
        </p:txBody>
      </p:sp>
      <p:sp>
        <p:nvSpPr>
          <p:cNvPr id="28" name="q3-card"/>
          <p:cNvSpPr/>
          <p:nvPr/>
        </p:nvSpPr>
        <p:spPr>
          <a:xfrm>
            <a:off x="6146800" y="3911600"/>
            <a:ext cx="27127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29" name="q3-number"/>
          <p:cNvSpPr txBox="1"/>
          <p:nvPr/>
        </p:nvSpPr>
        <p:spPr>
          <a:xfrm>
            <a:off x="6324600" y="4064000"/>
            <a:ext cx="23495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150" noProof="1"/>
          </a:p>
        </p:txBody>
      </p:sp>
      <p:sp>
        <p:nvSpPr>
          <p:cNvPr id="30" name="q3-title"/>
          <p:cNvSpPr txBox="1"/>
          <p:nvPr/>
        </p:nvSpPr>
        <p:spPr>
          <a:xfrm>
            <a:off x="6324600" y="4343400"/>
            <a:ext cx="2349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5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个体差异与变点如何识别？</a:t>
            </a:r>
            <a:endParaRPr lang="en-US" sz="1350" noProof="1"/>
          </a:p>
        </p:txBody>
      </p:sp>
      <p:sp>
        <p:nvSpPr>
          <p:cNvPr id="31" name="q3-body"/>
          <p:cNvSpPr txBox="1"/>
          <p:nvPr/>
        </p:nvSpPr>
        <p:spPr>
          <a:xfrm>
            <a:off x="6324600" y="4749800"/>
            <a:ext cx="23495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8000"/>
              </a:lnSpc>
            </a:pPr>
            <a:r>
              <a:rPr lang="en-US" sz="120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同批产品的退化路径并不一致，还可能出现两阶段变化和双尺度特征。如何区分个体差异与机制转变，避免平均化失真？</a:t>
            </a:r>
            <a:endParaRPr lang="en-US" sz="1200" noProof="1"/>
          </a:p>
        </p:txBody>
      </p:sp>
      <p:sp>
        <p:nvSpPr>
          <p:cNvPr id="32" name="q3-tag"/>
          <p:cNvSpPr txBox="1"/>
          <p:nvPr/>
        </p:nvSpPr>
        <p:spPr>
          <a:xfrm>
            <a:off x="6324600" y="601980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关注：随机效应与阶段变化</a:t>
            </a:r>
            <a:endParaRPr lang="en-US" sz="1050" noProof="1"/>
          </a:p>
        </p:txBody>
      </p:sp>
      <p:sp>
        <p:nvSpPr>
          <p:cNvPr id="33" name="q4-card"/>
          <p:cNvSpPr/>
          <p:nvPr/>
        </p:nvSpPr>
        <p:spPr>
          <a:xfrm>
            <a:off x="8991600" y="3911600"/>
            <a:ext cx="27127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34" name="q4-number"/>
          <p:cNvSpPr txBox="1"/>
          <p:nvPr/>
        </p:nvSpPr>
        <p:spPr>
          <a:xfrm>
            <a:off x="9169400" y="4064000"/>
            <a:ext cx="23495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150" noProof="1"/>
          </a:p>
        </p:txBody>
      </p:sp>
      <p:sp>
        <p:nvSpPr>
          <p:cNvPr id="35" name="q4-title"/>
          <p:cNvSpPr txBox="1"/>
          <p:nvPr/>
        </p:nvSpPr>
        <p:spPr>
          <a:xfrm>
            <a:off x="9169400" y="4343400"/>
            <a:ext cx="2349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数据持续到达如何快速更新？</a:t>
            </a:r>
            <a:endParaRPr lang="en-US" sz="1300" noProof="1"/>
          </a:p>
        </p:txBody>
      </p:sp>
      <p:sp>
        <p:nvSpPr>
          <p:cNvPr id="36" name="q4-body"/>
          <p:cNvSpPr txBox="1"/>
          <p:nvPr/>
        </p:nvSpPr>
        <p:spPr>
          <a:xfrm>
            <a:off x="9169400" y="4749800"/>
            <a:ext cx="23495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8000"/>
              </a:lnSpc>
            </a:pPr>
            <a:r>
              <a:rPr lang="en-US" sz="120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在线监测不断产生新信息，批量重算难以支撑实时决策。如何递推更新剩余寿命及其不确定性，服务预警与维修？</a:t>
            </a:r>
            <a:endParaRPr lang="en-US" sz="1200" noProof="1"/>
          </a:p>
        </p:txBody>
      </p:sp>
      <p:sp>
        <p:nvSpPr>
          <p:cNvPr id="37" name="q4-tag"/>
          <p:cNvSpPr txBox="1"/>
          <p:nvPr/>
        </p:nvSpPr>
        <p:spPr>
          <a:xfrm>
            <a:off x="9169400" y="6019800"/>
            <a:ext cx="2349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关注：在线推断与维修决策</a:t>
            </a:r>
            <a:endParaRPr lang="en-US" sz="1050" noProof="1"/>
          </a:p>
        </p:txBody>
      </p:sp>
      <p:sp>
        <p:nvSpPr>
          <p:cNvPr id="38" name="footer-bar"/>
          <p:cNvSpPr/>
          <p:nvPr/>
        </p:nvSpPr>
        <p:spPr>
          <a:xfrm>
            <a:off x="0" y="6638290"/>
            <a:ext cx="12192000" cy="219710"/>
          </a:xfrm>
          <a:prstGeom prst="rect">
            <a:avLst/>
          </a:prstGeom>
          <a:solidFill>
            <a:srgbClr val="0A1F3D"/>
          </a:solidFill>
          <a:ln>
            <a:noFill/>
          </a:ln>
        </p:spPr>
      </p:sp>
      <p:sp>
        <p:nvSpPr>
          <p:cNvPr id="39" name="footer-name"/>
          <p:cNvSpPr txBox="1"/>
          <p:nvPr/>
        </p:nvSpPr>
        <p:spPr>
          <a:xfrm>
            <a:off x="494030" y="6657340"/>
            <a:ext cx="92532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8000"/>
              </a:lnSpc>
            </a:pPr>
            <a:r>
              <a:rPr lang="en-US" sz="1000" noProof="1">
                <a:solidFill>
                  <a:srgbClr val="B8CDDE"/>
                </a:solidFill>
                <a:latin typeface="微软雅黑" panose="020B0503020204020204" charset="-122"/>
                <a:ea typeface="微软雅黑" panose="020B0503020204020204" charset="-122"/>
              </a:rPr>
              <a:t>徐安察    浙江工商大学统计与数据科学学院</a:t>
            </a:r>
            <a:endParaRPr lang="en-US" sz="1000" noProof="1"/>
          </a:p>
        </p:txBody>
      </p:sp>
      <p:sp>
        <p:nvSpPr>
          <p:cNvPr id="40" name="footer-page"/>
          <p:cNvSpPr txBox="1"/>
          <p:nvPr/>
        </p:nvSpPr>
        <p:spPr>
          <a:xfrm>
            <a:off x="10552430" y="6657340"/>
            <a:ext cx="12065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18000"/>
              </a:lnSpc>
            </a:pPr>
            <a:r>
              <a:rPr lang="en-US" sz="1000" noProof="1">
                <a:solidFill>
                  <a:srgbClr val="C5D6E6"/>
                </a:solidFill>
                <a:latin typeface="微软雅黑" panose="020B0503020204020204" charset="-122"/>
                <a:ea typeface="微软雅黑" panose="020B0503020204020204" charset="-122"/>
              </a:rPr>
              <a:t>02  /  04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2000" cy="73660"/>
          </a:xfrm>
          <a:prstGeom prst="rect">
            <a:avLst/>
          </a:prstGeom>
          <a:gradFill rotWithShape="1">
            <a:gsLst>
              <a:gs pos="0">
                <a:srgbClr val="0A1F3D"/>
              </a:gs>
              <a:gs pos="100000">
                <a:srgbClr val="1E4E7A"/>
              </a:gs>
            </a:gsLst>
            <a:lin ang="0" scaled="1"/>
          </a:gra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539750" y="256540"/>
            <a:ext cx="11082020" cy="2006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1200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工作｜模型、方法与决策</a:t>
            </a:r>
            <a:endParaRPr lang="en-US" sz="1200" noProof="1"/>
          </a:p>
        </p:txBody>
      </p:sp>
      <p:sp>
        <p:nvSpPr>
          <p:cNvPr id="4" name="page-title"/>
          <p:cNvSpPr txBox="1"/>
          <p:nvPr/>
        </p:nvSpPr>
        <p:spPr>
          <a:xfrm>
            <a:off x="539750" y="494030"/>
            <a:ext cx="110820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24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主要研究工作</a:t>
            </a:r>
            <a:endParaRPr lang="en-US" sz="2400" noProof="1"/>
          </a:p>
        </p:txBody>
      </p:sp>
      <p:sp>
        <p:nvSpPr>
          <p:cNvPr id="5" name="title-rule"/>
          <p:cNvSpPr/>
          <p:nvPr/>
        </p:nvSpPr>
        <p:spPr>
          <a:xfrm>
            <a:off x="502920" y="932180"/>
            <a:ext cx="383540" cy="36830"/>
          </a:xfrm>
          <a:prstGeom prst="rect">
            <a:avLst/>
          </a:prstGeom>
          <a:solidFill>
            <a:srgbClr val="3A7CA5"/>
          </a:solidFill>
          <a:ln>
            <a:noFill/>
          </a:ln>
        </p:spPr>
      </p:sp>
      <p:sp>
        <p:nvSpPr>
          <p:cNvPr id="6" name="page-subtitle"/>
          <p:cNvSpPr txBox="1"/>
          <p:nvPr/>
        </p:nvSpPr>
        <p:spPr>
          <a:xfrm>
            <a:off x="494030" y="1085850"/>
            <a:ext cx="11173460" cy="292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从统计建模到评估、预测与决策，</a:t>
            </a:r>
            <a:r>
              <a:rPr lang="zh-CN" altLang="en-US" sz="130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解决</a:t>
            </a:r>
            <a:r>
              <a:rPr lang="en-US" sz="130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小样本与复杂退化</a:t>
            </a:r>
            <a:r>
              <a:rPr lang="zh-CN" altLang="en-US" sz="130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r>
              <a:rPr lang="en-US" sz="130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带来的挑战。</a:t>
            </a:r>
            <a:endParaRPr lang="en-US" sz="1300" noProof="1"/>
          </a:p>
        </p:txBody>
      </p:sp>
      <p:sp>
        <p:nvSpPr>
          <p:cNvPr id="7" name="work1-card"/>
          <p:cNvSpPr/>
          <p:nvPr/>
        </p:nvSpPr>
        <p:spPr>
          <a:xfrm>
            <a:off x="457200" y="1473200"/>
            <a:ext cx="55245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8" name="work1-accent"/>
          <p:cNvSpPr/>
          <p:nvPr/>
        </p:nvSpPr>
        <p:spPr>
          <a:xfrm>
            <a:off x="457200" y="1473200"/>
            <a:ext cx="63500" cy="1905000"/>
          </a:xfrm>
          <a:prstGeom prst="rect">
            <a:avLst/>
          </a:prstGeom>
          <a:solidFill>
            <a:srgbClr val="3A7CA5"/>
          </a:solidFill>
          <a:ln>
            <a:noFill/>
          </a:ln>
        </p:spPr>
      </p:sp>
      <p:sp>
        <p:nvSpPr>
          <p:cNvPr id="9" name="work1-number"/>
          <p:cNvSpPr txBox="1"/>
          <p:nvPr/>
        </p:nvSpPr>
        <p:spPr>
          <a:xfrm>
            <a:off x="711200" y="16129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150" noProof="1"/>
          </a:p>
        </p:txBody>
      </p:sp>
      <p:sp>
        <p:nvSpPr>
          <p:cNvPr id="10" name="work1-challenge"/>
          <p:cNvSpPr txBox="1"/>
          <p:nvPr/>
        </p:nvSpPr>
        <p:spPr>
          <a:xfrm>
            <a:off x="1155700" y="16129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150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样本量偏小</a:t>
            </a:r>
            <a:endParaRPr lang="en-US" sz="1150" noProof="1"/>
          </a:p>
        </p:txBody>
      </p:sp>
      <p:sp>
        <p:nvSpPr>
          <p:cNvPr id="11" name="work1-title"/>
          <p:cNvSpPr txBox="1"/>
          <p:nvPr/>
        </p:nvSpPr>
        <p:spPr>
          <a:xfrm>
            <a:off x="711200" y="1892300"/>
            <a:ext cx="5016500" cy="292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6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客观贝叶斯与试验设计</a:t>
            </a:r>
            <a:endParaRPr lang="en-US" sz="1600" noProof="1"/>
          </a:p>
        </p:txBody>
      </p:sp>
      <p:sp>
        <p:nvSpPr>
          <p:cNvPr id="12" name="work1-method"/>
          <p:cNvSpPr txBox="1"/>
          <p:nvPr/>
        </p:nvSpPr>
        <p:spPr>
          <a:xfrm>
            <a:off x="711200" y="2260600"/>
            <a:ext cx="5016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6000"/>
              </a:lnSpc>
            </a:pPr>
            <a:r>
              <a:rPr lang="en-US" sz="122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研究应对｜</a:t>
            </a:r>
            <a:r>
              <a:rPr 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构建参考先验并讨论后验正常性，结合加速寿命、加速退化试验与小样本评估。</a:t>
            </a:r>
            <a:endParaRPr lang="en-US" sz="1220" noProof="1"/>
          </a:p>
        </p:txBody>
      </p:sp>
      <p:sp>
        <p:nvSpPr>
          <p:cNvPr id="13" name="work1-value-bg"/>
          <p:cNvSpPr/>
          <p:nvPr/>
        </p:nvSpPr>
        <p:spPr>
          <a:xfrm>
            <a:off x="660400" y="2895600"/>
            <a:ext cx="5168900" cy="34290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>
            <a:noFill/>
          </a:ln>
        </p:spPr>
      </p:sp>
      <p:sp>
        <p:nvSpPr>
          <p:cNvPr id="14" name="work1-value"/>
          <p:cNvSpPr txBox="1"/>
          <p:nvPr/>
        </p:nvSpPr>
        <p:spPr>
          <a:xfrm>
            <a:off x="787400" y="2933700"/>
            <a:ext cx="49149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20" b="1" noProof="1">
                <a:solidFill>
                  <a:srgbClr val="245C80"/>
                </a:solidFill>
                <a:latin typeface="微软雅黑" panose="020B0503020204020204" charset="-122"/>
                <a:ea typeface="微软雅黑" panose="020B0503020204020204" charset="-122"/>
              </a:rPr>
              <a:t>实际价值｜降低先验主观性，提高有限样本下评估的稳定性</a:t>
            </a:r>
            <a:endParaRPr lang="en-US" sz="1120" noProof="1"/>
          </a:p>
        </p:txBody>
      </p:sp>
      <p:sp>
        <p:nvSpPr>
          <p:cNvPr id="15" name="work2-card"/>
          <p:cNvSpPr/>
          <p:nvPr/>
        </p:nvSpPr>
        <p:spPr>
          <a:xfrm>
            <a:off x="6184900" y="1473200"/>
            <a:ext cx="55245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16" name="work2-accent"/>
          <p:cNvSpPr/>
          <p:nvPr/>
        </p:nvSpPr>
        <p:spPr>
          <a:xfrm>
            <a:off x="6184900" y="1473200"/>
            <a:ext cx="63500" cy="1905000"/>
          </a:xfrm>
          <a:prstGeom prst="rect">
            <a:avLst/>
          </a:prstGeom>
          <a:solidFill>
            <a:srgbClr val="3A7CA5"/>
          </a:solidFill>
          <a:ln>
            <a:noFill/>
          </a:ln>
        </p:spPr>
      </p:sp>
      <p:sp>
        <p:nvSpPr>
          <p:cNvPr id="17" name="work2-number"/>
          <p:cNvSpPr txBox="1"/>
          <p:nvPr/>
        </p:nvSpPr>
        <p:spPr>
          <a:xfrm>
            <a:off x="6438900" y="16129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150" noProof="1"/>
          </a:p>
        </p:txBody>
      </p:sp>
      <p:sp>
        <p:nvSpPr>
          <p:cNvPr id="18" name="work2-challenge"/>
          <p:cNvSpPr txBox="1"/>
          <p:nvPr/>
        </p:nvSpPr>
        <p:spPr>
          <a:xfrm>
            <a:off x="6883400" y="16129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150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指标多元相依</a:t>
            </a:r>
            <a:endParaRPr lang="en-US" sz="1150" noProof="1"/>
          </a:p>
        </p:txBody>
      </p:sp>
      <p:sp>
        <p:nvSpPr>
          <p:cNvPr id="19" name="work2-title"/>
          <p:cNvSpPr txBox="1"/>
          <p:nvPr/>
        </p:nvSpPr>
        <p:spPr>
          <a:xfrm>
            <a:off x="6438900" y="1892300"/>
            <a:ext cx="5016500" cy="292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6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zh-CN" altLang="en-US" sz="16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维</a:t>
            </a:r>
            <a:r>
              <a:rPr lang="en-US" sz="16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退化过程</a:t>
            </a:r>
            <a:endParaRPr lang="en-US" sz="1600" noProof="1"/>
          </a:p>
        </p:txBody>
      </p:sp>
      <p:sp>
        <p:nvSpPr>
          <p:cNvPr id="20" name="work2-method"/>
          <p:cNvSpPr txBox="1"/>
          <p:nvPr/>
        </p:nvSpPr>
        <p:spPr>
          <a:xfrm>
            <a:off x="6438900" y="2260600"/>
            <a:ext cx="5016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6000"/>
              </a:lnSpc>
            </a:pPr>
            <a:r>
              <a:rPr lang="en-US" sz="122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研究应对｜</a:t>
            </a:r>
            <a:r>
              <a:rPr 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建立</a:t>
            </a:r>
            <a:r>
              <a:rPr lang="zh-CN" alt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多维维纳</a:t>
            </a:r>
            <a:r>
              <a:rPr 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与多</a:t>
            </a:r>
            <a:r>
              <a:rPr lang="zh-CN" alt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维</a:t>
            </a:r>
            <a:r>
              <a:rPr 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Student-t过程，联合刻画退化速率、波动及尾部相依结构。</a:t>
            </a:r>
            <a:endParaRPr lang="en-US" sz="1220" noProof="1"/>
          </a:p>
        </p:txBody>
      </p:sp>
      <p:sp>
        <p:nvSpPr>
          <p:cNvPr id="21" name="work2-value-bg"/>
          <p:cNvSpPr/>
          <p:nvPr/>
        </p:nvSpPr>
        <p:spPr>
          <a:xfrm>
            <a:off x="6388100" y="2895600"/>
            <a:ext cx="5168900" cy="34290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>
            <a:noFill/>
          </a:ln>
        </p:spPr>
      </p:sp>
      <p:sp>
        <p:nvSpPr>
          <p:cNvPr id="22" name="work2-value"/>
          <p:cNvSpPr txBox="1"/>
          <p:nvPr/>
        </p:nvSpPr>
        <p:spPr>
          <a:xfrm>
            <a:off x="6515100" y="2933700"/>
            <a:ext cx="49149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20" b="1" noProof="1">
                <a:solidFill>
                  <a:srgbClr val="245C80"/>
                </a:solidFill>
                <a:latin typeface="微软雅黑" panose="020B0503020204020204" charset="-122"/>
                <a:ea typeface="微软雅黑" panose="020B0503020204020204" charset="-122"/>
              </a:rPr>
              <a:t>实际价值｜减少独立假设造成的风险低估，支撑系统评估</a:t>
            </a:r>
            <a:endParaRPr lang="en-US" sz="1120" noProof="1"/>
          </a:p>
        </p:txBody>
      </p:sp>
      <p:sp>
        <p:nvSpPr>
          <p:cNvPr id="23" name="work3-card"/>
          <p:cNvSpPr/>
          <p:nvPr/>
        </p:nvSpPr>
        <p:spPr>
          <a:xfrm>
            <a:off x="457200" y="3505200"/>
            <a:ext cx="55245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24" name="work3-accent"/>
          <p:cNvSpPr/>
          <p:nvPr/>
        </p:nvSpPr>
        <p:spPr>
          <a:xfrm>
            <a:off x="457200" y="3505200"/>
            <a:ext cx="63500" cy="1905000"/>
          </a:xfrm>
          <a:prstGeom prst="rect">
            <a:avLst/>
          </a:prstGeom>
          <a:solidFill>
            <a:srgbClr val="123A63"/>
          </a:solidFill>
          <a:ln>
            <a:noFill/>
          </a:ln>
        </p:spPr>
      </p:sp>
      <p:sp>
        <p:nvSpPr>
          <p:cNvPr id="25" name="work3-number"/>
          <p:cNvSpPr txBox="1"/>
          <p:nvPr/>
        </p:nvSpPr>
        <p:spPr>
          <a:xfrm>
            <a:off x="711200" y="36449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150" noProof="1"/>
          </a:p>
        </p:txBody>
      </p:sp>
      <p:sp>
        <p:nvSpPr>
          <p:cNvPr id="26" name="work3-challenge"/>
          <p:cNvSpPr txBox="1"/>
          <p:nvPr/>
        </p:nvSpPr>
        <p:spPr>
          <a:xfrm>
            <a:off x="1155700" y="36449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150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个体异质性</a:t>
            </a:r>
            <a:endParaRPr lang="en-US" sz="1150" noProof="1"/>
          </a:p>
        </p:txBody>
      </p:sp>
      <p:sp>
        <p:nvSpPr>
          <p:cNvPr id="27" name="work3-title"/>
          <p:cNvSpPr txBox="1"/>
          <p:nvPr/>
        </p:nvSpPr>
        <p:spPr>
          <a:xfrm>
            <a:off x="711200" y="3924300"/>
            <a:ext cx="5016500" cy="292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6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随机效应与变点模型</a:t>
            </a:r>
            <a:endParaRPr lang="en-US" sz="1600" noProof="1"/>
          </a:p>
        </p:txBody>
      </p:sp>
      <p:sp>
        <p:nvSpPr>
          <p:cNvPr id="28" name="work3-method"/>
          <p:cNvSpPr txBox="1"/>
          <p:nvPr/>
        </p:nvSpPr>
        <p:spPr>
          <a:xfrm>
            <a:off x="711200" y="4292600"/>
            <a:ext cx="5016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6000"/>
              </a:lnSpc>
            </a:pPr>
            <a:r>
              <a:rPr lang="en-US" sz="122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研究应对｜</a:t>
            </a:r>
            <a:r>
              <a:rPr 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zh-CN" alt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随机退化过程</a:t>
            </a:r>
            <a:r>
              <a:rPr 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框架下引入随机效应，刻画两阶段变化与双尺度退化特征。</a:t>
            </a:r>
            <a:endParaRPr lang="en-US" sz="1220" noProof="1"/>
          </a:p>
        </p:txBody>
      </p:sp>
      <p:sp>
        <p:nvSpPr>
          <p:cNvPr id="29" name="work3-value-bg"/>
          <p:cNvSpPr/>
          <p:nvPr/>
        </p:nvSpPr>
        <p:spPr>
          <a:xfrm>
            <a:off x="660400" y="4927600"/>
            <a:ext cx="5168900" cy="34290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>
            <a:noFill/>
          </a:ln>
        </p:spPr>
      </p:sp>
      <p:sp>
        <p:nvSpPr>
          <p:cNvPr id="30" name="work3-value"/>
          <p:cNvSpPr txBox="1"/>
          <p:nvPr/>
        </p:nvSpPr>
        <p:spPr>
          <a:xfrm>
            <a:off x="787400" y="4965700"/>
            <a:ext cx="49149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20" b="1" noProof="1">
                <a:solidFill>
                  <a:srgbClr val="245C80"/>
                </a:solidFill>
                <a:latin typeface="微软雅黑" panose="020B0503020204020204" charset="-122"/>
                <a:ea typeface="微软雅黑" panose="020B0503020204020204" charset="-122"/>
              </a:rPr>
              <a:t>实际价值｜识别个体与阶段差异，支撑个性化寿命预测</a:t>
            </a:r>
            <a:endParaRPr lang="en-US" sz="1120" noProof="1"/>
          </a:p>
        </p:txBody>
      </p:sp>
      <p:sp>
        <p:nvSpPr>
          <p:cNvPr id="31" name="work4-card"/>
          <p:cNvSpPr/>
          <p:nvPr/>
        </p:nvSpPr>
        <p:spPr>
          <a:xfrm>
            <a:off x="6184900" y="3505200"/>
            <a:ext cx="55245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32" name="work4-accent"/>
          <p:cNvSpPr/>
          <p:nvPr/>
        </p:nvSpPr>
        <p:spPr>
          <a:xfrm>
            <a:off x="6184900" y="3505200"/>
            <a:ext cx="63500" cy="1905000"/>
          </a:xfrm>
          <a:prstGeom prst="rect">
            <a:avLst/>
          </a:prstGeom>
          <a:solidFill>
            <a:srgbClr val="123A63"/>
          </a:solidFill>
          <a:ln>
            <a:noFill/>
          </a:ln>
        </p:spPr>
      </p:sp>
      <p:sp>
        <p:nvSpPr>
          <p:cNvPr id="33" name="work4-number"/>
          <p:cNvSpPr txBox="1"/>
          <p:nvPr/>
        </p:nvSpPr>
        <p:spPr>
          <a:xfrm>
            <a:off x="6438900" y="36449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150" noProof="1"/>
          </a:p>
        </p:txBody>
      </p:sp>
      <p:sp>
        <p:nvSpPr>
          <p:cNvPr id="34" name="work4-challenge"/>
          <p:cNvSpPr txBox="1"/>
          <p:nvPr/>
        </p:nvSpPr>
        <p:spPr>
          <a:xfrm>
            <a:off x="6883400" y="36449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150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监测持续到达</a:t>
            </a:r>
            <a:endParaRPr lang="en-US" sz="1150" noProof="1"/>
          </a:p>
        </p:txBody>
      </p:sp>
      <p:sp>
        <p:nvSpPr>
          <p:cNvPr id="35" name="work4-title"/>
          <p:cNvSpPr txBox="1"/>
          <p:nvPr/>
        </p:nvSpPr>
        <p:spPr>
          <a:xfrm>
            <a:off x="6438900" y="3924300"/>
            <a:ext cx="5016500" cy="292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6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在线贝叶斯推断</a:t>
            </a:r>
            <a:endParaRPr lang="en-US" sz="1600" noProof="1"/>
          </a:p>
        </p:txBody>
      </p:sp>
      <p:sp>
        <p:nvSpPr>
          <p:cNvPr id="36" name="work4-method"/>
          <p:cNvSpPr txBox="1"/>
          <p:nvPr/>
        </p:nvSpPr>
        <p:spPr>
          <a:xfrm>
            <a:off x="6438900" y="4292600"/>
            <a:ext cx="5016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6000"/>
              </a:lnSpc>
            </a:pPr>
            <a:r>
              <a:rPr lang="en-US" sz="122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研究应对｜</a:t>
            </a:r>
            <a:r>
              <a:rPr 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利用共轭或近似共轭结构递推更新，动态预测剩余寿命及其不确定性。</a:t>
            </a:r>
            <a:endParaRPr lang="en-US" sz="1220" noProof="1"/>
          </a:p>
        </p:txBody>
      </p:sp>
      <p:sp>
        <p:nvSpPr>
          <p:cNvPr id="37" name="work4-value-bg"/>
          <p:cNvSpPr/>
          <p:nvPr/>
        </p:nvSpPr>
        <p:spPr>
          <a:xfrm>
            <a:off x="6388100" y="4927600"/>
            <a:ext cx="5168900" cy="34290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>
            <a:noFill/>
          </a:ln>
        </p:spPr>
      </p:sp>
      <p:sp>
        <p:nvSpPr>
          <p:cNvPr id="38" name="work4-value"/>
          <p:cNvSpPr txBox="1"/>
          <p:nvPr/>
        </p:nvSpPr>
        <p:spPr>
          <a:xfrm>
            <a:off x="6515100" y="4965700"/>
            <a:ext cx="49149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20" b="1" noProof="1">
                <a:solidFill>
                  <a:srgbClr val="245C80"/>
                </a:solidFill>
                <a:latin typeface="微软雅黑" panose="020B0503020204020204" charset="-122"/>
                <a:ea typeface="微软雅黑" panose="020B0503020204020204" charset="-122"/>
              </a:rPr>
              <a:t>实际价值｜把监测数据转化为预警与维修决策依据</a:t>
            </a:r>
            <a:endParaRPr lang="en-US" sz="1120" noProof="1"/>
          </a:p>
        </p:txBody>
      </p:sp>
      <p:sp>
        <p:nvSpPr>
          <p:cNvPr id="39" name="evidence-band"/>
          <p:cNvSpPr/>
          <p:nvPr/>
        </p:nvSpPr>
        <p:spPr>
          <a:xfrm>
            <a:off x="457200" y="5562600"/>
            <a:ext cx="11252200" cy="8763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0A1F3D"/>
              </a:gs>
              <a:gs pos="100000">
                <a:srgbClr val="1E4E7A"/>
              </a:gs>
            </a:gsLst>
            <a:lin ang="0" scaled="1"/>
          </a:gradFill>
          <a:ln>
            <a:noFill/>
          </a:ln>
        </p:spPr>
      </p:sp>
      <p:sp>
        <p:nvSpPr>
          <p:cNvPr id="40" name="evidence-text"/>
          <p:cNvSpPr txBox="1"/>
          <p:nvPr/>
        </p:nvSpPr>
        <p:spPr>
          <a:xfrm>
            <a:off x="685800" y="5676900"/>
            <a:ext cx="71755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080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成果发表于 NRL、SJS、JQT、EJOR、IEEE TR、IISE Transactions 等；2025 年出版《随机退化过程与统计建模》。</a:t>
            </a:r>
            <a:endParaRPr lang="en-US" sz="1080" noProof="1"/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lang="en-US" sz="1080" noProof="1">
                <a:solidFill>
                  <a:srgbClr val="C5D6E6"/>
                </a:solidFill>
                <a:latin typeface="微软雅黑" panose="020B0503020204020204" charset="-122"/>
                <a:ea typeface="微软雅黑" panose="020B0503020204020204" charset="-122"/>
              </a:rPr>
              <a:t>在研国家自然科学基金面上项目：多维偏态厚尾退化及其贝叶斯最优设计。</a:t>
            </a:r>
            <a:endParaRPr lang="en-US" sz="1080" noProof="1"/>
          </a:p>
        </p:txBody>
      </p:sp>
      <p:sp>
        <p:nvSpPr>
          <p:cNvPr id="41" name="evidence-divider"/>
          <p:cNvSpPr/>
          <p:nvPr/>
        </p:nvSpPr>
        <p:spPr>
          <a:xfrm>
            <a:off x="8051800" y="5715000"/>
            <a:ext cx="12700" cy="558800"/>
          </a:xfrm>
          <a:prstGeom prst="rect">
            <a:avLst/>
          </a:prstGeom>
          <a:solidFill>
            <a:srgbClr val="7FA2BD">
              <a:alpha val="50196"/>
            </a:srgbClr>
          </a:solidFill>
          <a:ln>
            <a:noFill/>
          </a:ln>
        </p:spPr>
      </p:sp>
      <p:sp>
        <p:nvSpPr>
          <p:cNvPr id="42" name="application-label"/>
          <p:cNvSpPr txBox="1"/>
          <p:nvPr/>
        </p:nvSpPr>
        <p:spPr>
          <a:xfrm>
            <a:off x="8293100" y="5676900"/>
            <a:ext cx="3111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9FC3D9"/>
                </a:solidFill>
                <a:latin typeface="微软雅黑" panose="020B0503020204020204" charset="-122"/>
                <a:ea typeface="微软雅黑" panose="020B0503020204020204" charset="-122"/>
              </a:rPr>
              <a:t>应用指向</a:t>
            </a:r>
            <a:endParaRPr lang="en-US" sz="1050" noProof="1"/>
          </a:p>
        </p:txBody>
      </p:sp>
      <p:sp>
        <p:nvSpPr>
          <p:cNvPr id="43" name="application-text"/>
          <p:cNvSpPr txBox="1"/>
          <p:nvPr/>
        </p:nvSpPr>
        <p:spPr>
          <a:xfrm>
            <a:off x="8293100" y="5930900"/>
            <a:ext cx="3111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15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试验设计 · 可靠性评估</a:t>
            </a:r>
            <a:endParaRPr lang="en-US" sz="1150" noProof="1"/>
          </a:p>
          <a:p>
            <a:pPr algn="l">
              <a:lnSpc>
                <a:spcPct val="125000"/>
              </a:lnSpc>
            </a:pPr>
            <a:r>
              <a:rPr lang="en-US" sz="115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寿命预测 · 维修决策</a:t>
            </a:r>
            <a:endParaRPr lang="en-US" sz="1150" noProof="1"/>
          </a:p>
        </p:txBody>
      </p:sp>
      <p:sp>
        <p:nvSpPr>
          <p:cNvPr id="44" name="footer-bar"/>
          <p:cNvSpPr/>
          <p:nvPr/>
        </p:nvSpPr>
        <p:spPr>
          <a:xfrm>
            <a:off x="0" y="6638290"/>
            <a:ext cx="12192000" cy="219710"/>
          </a:xfrm>
          <a:prstGeom prst="rect">
            <a:avLst/>
          </a:prstGeom>
          <a:solidFill>
            <a:srgbClr val="0A1F3D"/>
          </a:solidFill>
          <a:ln>
            <a:noFill/>
          </a:ln>
        </p:spPr>
      </p:sp>
      <p:sp>
        <p:nvSpPr>
          <p:cNvPr id="45" name="footer-name"/>
          <p:cNvSpPr txBox="1"/>
          <p:nvPr/>
        </p:nvSpPr>
        <p:spPr>
          <a:xfrm>
            <a:off x="494030" y="6657340"/>
            <a:ext cx="92532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8000"/>
              </a:lnSpc>
            </a:pPr>
            <a:r>
              <a:rPr lang="en-US" sz="1000" noProof="1">
                <a:solidFill>
                  <a:srgbClr val="B8CDDE"/>
                </a:solidFill>
                <a:latin typeface="微软雅黑" panose="020B0503020204020204" charset="-122"/>
                <a:ea typeface="微软雅黑" panose="020B0503020204020204" charset="-122"/>
              </a:rPr>
              <a:t>徐安察    浙江工商大学统计与数据科学学院</a:t>
            </a:r>
            <a:endParaRPr lang="en-US" sz="1000" noProof="1"/>
          </a:p>
        </p:txBody>
      </p:sp>
      <p:sp>
        <p:nvSpPr>
          <p:cNvPr id="46" name="footer-page"/>
          <p:cNvSpPr txBox="1"/>
          <p:nvPr/>
        </p:nvSpPr>
        <p:spPr>
          <a:xfrm>
            <a:off x="10552430" y="6657340"/>
            <a:ext cx="12065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18000"/>
              </a:lnSpc>
            </a:pPr>
            <a:r>
              <a:rPr lang="en-US" sz="1000" noProof="1">
                <a:solidFill>
                  <a:srgbClr val="C5D6E6"/>
                </a:solidFill>
                <a:latin typeface="微软雅黑" panose="020B0503020204020204" charset="-122"/>
                <a:ea typeface="微软雅黑" panose="020B0503020204020204" charset="-122"/>
              </a:rPr>
              <a:t>03  /  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2000" cy="73660"/>
          </a:xfrm>
          <a:prstGeom prst="rect">
            <a:avLst/>
          </a:prstGeom>
          <a:gradFill rotWithShape="1">
            <a:gsLst>
              <a:gs pos="0">
                <a:srgbClr val="0A1F3D"/>
              </a:gs>
              <a:gs pos="100000">
                <a:srgbClr val="1E4E7A"/>
              </a:gs>
            </a:gsLst>
            <a:lin ang="0" scaled="1"/>
          </a:gradFill>
          <a:ln>
            <a:noFill/>
          </a:ln>
        </p:spPr>
      </p:sp>
      <p:sp>
        <p:nvSpPr>
          <p:cNvPr id="3" name="section-label"/>
          <p:cNvSpPr txBox="1"/>
          <p:nvPr/>
        </p:nvSpPr>
        <p:spPr>
          <a:xfrm>
            <a:off x="539750" y="256540"/>
            <a:ext cx="11082020" cy="2006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1200" noProof="1">
                <a:solidFill>
                  <a:srgbClr val="3A7CA5"/>
                </a:solidFill>
                <a:latin typeface="微软雅黑" panose="020B0503020204020204" charset="-122"/>
                <a:ea typeface="微软雅黑" panose="020B0503020204020204" charset="-122"/>
              </a:rPr>
              <a:t>展望｜面向真实场景的方法延伸</a:t>
            </a:r>
            <a:endParaRPr lang="en-US" sz="1200" noProof="1"/>
          </a:p>
        </p:txBody>
      </p:sp>
      <p:sp>
        <p:nvSpPr>
          <p:cNvPr id="4" name="page-title"/>
          <p:cNvSpPr txBox="1"/>
          <p:nvPr/>
        </p:nvSpPr>
        <p:spPr>
          <a:xfrm>
            <a:off x="539750" y="494030"/>
            <a:ext cx="110820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24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后续工作</a:t>
            </a:r>
            <a:endParaRPr lang="en-US" sz="2400" noProof="1"/>
          </a:p>
        </p:txBody>
      </p:sp>
      <p:sp>
        <p:nvSpPr>
          <p:cNvPr id="5" name="title-rule"/>
          <p:cNvSpPr/>
          <p:nvPr/>
        </p:nvSpPr>
        <p:spPr>
          <a:xfrm>
            <a:off x="502920" y="932180"/>
            <a:ext cx="383540" cy="36830"/>
          </a:xfrm>
          <a:prstGeom prst="rect">
            <a:avLst/>
          </a:prstGeom>
          <a:solidFill>
            <a:srgbClr val="3A7CA5"/>
          </a:solidFill>
          <a:ln>
            <a:noFill/>
          </a:ln>
        </p:spPr>
      </p:sp>
      <p:sp>
        <p:nvSpPr>
          <p:cNvPr id="6" name="page-subtitle"/>
          <p:cNvSpPr txBox="1"/>
          <p:nvPr/>
        </p:nvSpPr>
        <p:spPr>
          <a:xfrm>
            <a:off x="494030" y="1085850"/>
            <a:ext cx="11173460" cy="292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5B6B7C"/>
                </a:solidFill>
                <a:latin typeface="微软雅黑" panose="020B0503020204020204" charset="-122"/>
                <a:ea typeface="微软雅黑" panose="020B0503020204020204" charset="-122"/>
              </a:rPr>
              <a:t>面向流式监测、多中心协作与智能系统，让可靠性方法适应更复杂的数据约束和应用环境。</a:t>
            </a:r>
            <a:endParaRPr lang="en-US" sz="1300" noProof="1"/>
          </a:p>
        </p:txBody>
      </p:sp>
      <p:sp>
        <p:nvSpPr>
          <p:cNvPr id="7" name="future1-card"/>
          <p:cNvSpPr/>
          <p:nvPr/>
        </p:nvSpPr>
        <p:spPr>
          <a:xfrm>
            <a:off x="457200" y="1473200"/>
            <a:ext cx="5524500" cy="184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8" name="future1-accent"/>
          <p:cNvSpPr/>
          <p:nvPr/>
        </p:nvSpPr>
        <p:spPr>
          <a:xfrm>
            <a:off x="457200" y="1473200"/>
            <a:ext cx="63500" cy="1841500"/>
          </a:xfrm>
          <a:prstGeom prst="rect">
            <a:avLst/>
          </a:prstGeom>
          <a:solidFill>
            <a:srgbClr val="3A7CA5"/>
          </a:solidFill>
          <a:ln>
            <a:noFill/>
          </a:ln>
        </p:spPr>
      </p:sp>
      <p:sp>
        <p:nvSpPr>
          <p:cNvPr id="9" name="future1-icon"/>
          <p:cNvSpPr/>
          <p:nvPr/>
        </p:nvSpPr>
        <p:spPr>
          <a:xfrm>
            <a:off x="711200" y="1651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96"/>
                </a:moveTo>
                <a:cubicBezTo>
                  <a:pt x="64" y="78"/>
                  <a:pt x="78" y="64"/>
                  <a:pt x="96" y="64"/>
                </a:cubicBezTo>
                <a:lnTo>
                  <a:pt x="256" y="64"/>
                </a:lnTo>
                <a:cubicBezTo>
                  <a:pt x="274" y="64"/>
                  <a:pt x="288" y="78"/>
                  <a:pt x="288" y="96"/>
                </a:cubicBezTo>
                <a:lnTo>
                  <a:pt x="288" y="384"/>
                </a:lnTo>
                <a:lnTo>
                  <a:pt x="384" y="384"/>
                </a:lnTo>
                <a:lnTo>
                  <a:pt x="384" y="256"/>
                </a:lnTo>
                <a:cubicBezTo>
                  <a:pt x="384" y="238"/>
                  <a:pt x="398" y="224"/>
                  <a:pt x="41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448" y="288"/>
                </a:lnTo>
                <a:lnTo>
                  <a:pt x="448" y="416"/>
                </a:lnTo>
                <a:cubicBezTo>
                  <a:pt x="448" y="434"/>
                  <a:pt x="434" y="448"/>
                  <a:pt x="416" y="448"/>
                </a:cubicBezTo>
                <a:lnTo>
                  <a:pt x="256" y="448"/>
                </a:lnTo>
                <a:cubicBezTo>
                  <a:pt x="238" y="448"/>
                  <a:pt x="224" y="434"/>
                  <a:pt x="224" y="416"/>
                </a:cubicBezTo>
                <a:lnTo>
                  <a:pt x="224" y="128"/>
                </a:lnTo>
                <a:lnTo>
                  <a:pt x="128" y="128"/>
                </a:lnTo>
                <a:lnTo>
                  <a:pt x="128" y="256"/>
                </a:lnTo>
                <a:cubicBezTo>
                  <a:pt x="128" y="274"/>
                  <a:pt x="114" y="288"/>
                  <a:pt x="96" y="288"/>
                </a:cubicBezTo>
                <a:lnTo>
                  <a:pt x="32" y="288"/>
                </a:lnTo>
                <a:cubicBezTo>
                  <a:pt x="14" y="288"/>
                  <a:pt x="0" y="274"/>
                  <a:pt x="0" y="256"/>
                </a:cubicBezTo>
                <a:cubicBezTo>
                  <a:pt x="0" y="238"/>
                  <a:pt x="14" y="224"/>
                  <a:pt x="32" y="224"/>
                </a:cubicBezTo>
                <a:lnTo>
                  <a:pt x="64" y="224"/>
                </a:lnTo>
                <a:lnTo>
                  <a:pt x="64" y="96"/>
                </a:lnTo>
                <a:close/>
              </a:path>
            </a:pathLst>
          </a:custGeom>
          <a:solidFill>
            <a:srgbClr val="3A7CA5"/>
          </a:solidFill>
          <a:ln>
            <a:noFill/>
          </a:ln>
        </p:spPr>
      </p:sp>
      <p:sp>
        <p:nvSpPr>
          <p:cNvPr id="10" name="future1-title"/>
          <p:cNvSpPr txBox="1"/>
          <p:nvPr/>
        </p:nvSpPr>
        <p:spPr>
          <a:xfrm>
            <a:off x="1066800" y="1612900"/>
            <a:ext cx="46609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55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数据流｜持续更新，更要持续校准</a:t>
            </a:r>
            <a:endParaRPr lang="en-US" sz="1550" noProof="1"/>
          </a:p>
        </p:txBody>
      </p:sp>
      <p:sp>
        <p:nvSpPr>
          <p:cNvPr id="11" name="future1-method"/>
          <p:cNvSpPr txBox="1"/>
          <p:nvPr/>
        </p:nvSpPr>
        <p:spPr>
          <a:xfrm>
            <a:off x="711200" y="2032000"/>
            <a:ext cx="5016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6000"/>
              </a:lnSpc>
            </a:pPr>
            <a:r>
              <a:rPr lang="en-US" sz="122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拟解决问题｜</a:t>
            </a:r>
            <a:r>
              <a:rPr 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研究在线更新后的区间校准与覆盖率，使剩余寿命预测在流式场景下仍可核验。</a:t>
            </a:r>
            <a:endParaRPr lang="en-US" sz="1220" noProof="1"/>
          </a:p>
        </p:txBody>
      </p:sp>
      <p:sp>
        <p:nvSpPr>
          <p:cNvPr id="12" name="future1-value-bg"/>
          <p:cNvSpPr/>
          <p:nvPr/>
        </p:nvSpPr>
        <p:spPr>
          <a:xfrm>
            <a:off x="660400" y="2794000"/>
            <a:ext cx="5168900" cy="35560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>
            <a:noFill/>
          </a:ln>
        </p:spPr>
      </p:sp>
      <p:sp>
        <p:nvSpPr>
          <p:cNvPr id="13" name="future1-value"/>
          <p:cNvSpPr txBox="1"/>
          <p:nvPr/>
        </p:nvSpPr>
        <p:spPr>
          <a:xfrm>
            <a:off x="787400" y="2832100"/>
            <a:ext cx="49149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20" b="1" noProof="1">
                <a:solidFill>
                  <a:srgbClr val="245C80"/>
                </a:solidFill>
                <a:latin typeface="微软雅黑" panose="020B0503020204020204" charset="-122"/>
                <a:ea typeface="微软雅黑" panose="020B0503020204020204" charset="-122"/>
              </a:rPr>
              <a:t>应用价值｜支撑连续监测中的动态预警与维修窗口调整</a:t>
            </a:r>
            <a:endParaRPr lang="en-US" sz="1120" noProof="1"/>
          </a:p>
        </p:txBody>
      </p:sp>
      <p:sp>
        <p:nvSpPr>
          <p:cNvPr id="14" name="future2-card"/>
          <p:cNvSpPr/>
          <p:nvPr/>
        </p:nvSpPr>
        <p:spPr>
          <a:xfrm>
            <a:off x="6184900" y="1473200"/>
            <a:ext cx="5524500" cy="184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15" name="future2-accent"/>
          <p:cNvSpPr/>
          <p:nvPr/>
        </p:nvSpPr>
        <p:spPr>
          <a:xfrm>
            <a:off x="6184900" y="1473200"/>
            <a:ext cx="63500" cy="1841500"/>
          </a:xfrm>
          <a:prstGeom prst="rect">
            <a:avLst/>
          </a:prstGeom>
          <a:solidFill>
            <a:srgbClr val="3A7CA5"/>
          </a:solidFill>
          <a:ln>
            <a:noFill/>
          </a:ln>
        </p:spPr>
      </p:sp>
      <p:sp>
        <p:nvSpPr>
          <p:cNvPr id="16" name="future2-icon"/>
          <p:cNvSpPr/>
          <p:nvPr/>
        </p:nvSpPr>
        <p:spPr>
          <a:xfrm>
            <a:off x="6438900" y="1651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3A7CA5"/>
          </a:solidFill>
          <a:ln>
            <a:noFill/>
          </a:ln>
        </p:spPr>
      </p:sp>
      <p:sp>
        <p:nvSpPr>
          <p:cNvPr id="17" name="future2-title"/>
          <p:cNvSpPr txBox="1"/>
          <p:nvPr/>
        </p:nvSpPr>
        <p:spPr>
          <a:xfrm>
            <a:off x="6794500" y="1612900"/>
            <a:ext cx="46609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55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多中心数据｜综合信息，保留差异</a:t>
            </a:r>
            <a:endParaRPr lang="en-US" sz="1550" noProof="1"/>
          </a:p>
        </p:txBody>
      </p:sp>
      <p:sp>
        <p:nvSpPr>
          <p:cNvPr id="18" name="future2-method"/>
          <p:cNvSpPr txBox="1"/>
          <p:nvPr/>
        </p:nvSpPr>
        <p:spPr>
          <a:xfrm>
            <a:off x="6438900" y="2032000"/>
            <a:ext cx="5016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6000"/>
              </a:lnSpc>
            </a:pPr>
            <a:r>
              <a:rPr lang="en-US" sz="122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拟解决问题｜</a:t>
            </a:r>
            <a:r>
              <a:rPr 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刻画试验室、批次与服役现场之间的异质性，研究跨中心信息综合方法。</a:t>
            </a:r>
            <a:endParaRPr lang="en-US" sz="1220" noProof="1"/>
          </a:p>
        </p:txBody>
      </p:sp>
      <p:sp>
        <p:nvSpPr>
          <p:cNvPr id="19" name="future2-value-bg"/>
          <p:cNvSpPr/>
          <p:nvPr/>
        </p:nvSpPr>
        <p:spPr>
          <a:xfrm>
            <a:off x="6388100" y="2794000"/>
            <a:ext cx="5168900" cy="35560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>
            <a:noFill/>
          </a:ln>
        </p:spPr>
      </p:sp>
      <p:sp>
        <p:nvSpPr>
          <p:cNvPr id="20" name="future2-value"/>
          <p:cNvSpPr txBox="1"/>
          <p:nvPr/>
        </p:nvSpPr>
        <p:spPr>
          <a:xfrm>
            <a:off x="6515100" y="2832100"/>
            <a:ext cx="49149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20" b="1" noProof="1">
                <a:solidFill>
                  <a:srgbClr val="245C80"/>
                </a:solidFill>
                <a:latin typeface="微软雅黑" panose="020B0503020204020204" charset="-122"/>
                <a:ea typeface="微软雅黑" panose="020B0503020204020204" charset="-122"/>
              </a:rPr>
              <a:t>应用价值｜提升跨试验室、跨现场评估的可比性与外推能力</a:t>
            </a:r>
            <a:endParaRPr lang="en-US" sz="1120" noProof="1"/>
          </a:p>
        </p:txBody>
      </p:sp>
      <p:sp>
        <p:nvSpPr>
          <p:cNvPr id="21" name="future3-card"/>
          <p:cNvSpPr/>
          <p:nvPr/>
        </p:nvSpPr>
        <p:spPr>
          <a:xfrm>
            <a:off x="457200" y="3467100"/>
            <a:ext cx="5524500" cy="184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22" name="future3-accent"/>
          <p:cNvSpPr/>
          <p:nvPr/>
        </p:nvSpPr>
        <p:spPr>
          <a:xfrm>
            <a:off x="457200" y="3467100"/>
            <a:ext cx="63500" cy="1841500"/>
          </a:xfrm>
          <a:prstGeom prst="rect">
            <a:avLst/>
          </a:prstGeom>
          <a:solidFill>
            <a:srgbClr val="123A63"/>
          </a:solidFill>
          <a:ln>
            <a:noFill/>
          </a:ln>
        </p:spPr>
      </p:sp>
      <p:sp>
        <p:nvSpPr>
          <p:cNvPr id="23" name="future3-icon"/>
          <p:cNvSpPr/>
          <p:nvPr/>
        </p:nvSpPr>
        <p:spPr>
          <a:xfrm>
            <a:off x="711200" y="3644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3A7CA5"/>
          </a:solidFill>
          <a:ln>
            <a:noFill/>
          </a:ln>
        </p:spPr>
      </p:sp>
      <p:sp>
        <p:nvSpPr>
          <p:cNvPr id="24" name="future3-title"/>
          <p:cNvSpPr txBox="1"/>
          <p:nvPr/>
        </p:nvSpPr>
        <p:spPr>
          <a:xfrm>
            <a:off x="1066800" y="3606800"/>
            <a:ext cx="46609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55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联邦学习｜数据不出域的协同预测</a:t>
            </a:r>
            <a:endParaRPr lang="en-US" sz="1550" noProof="1"/>
          </a:p>
        </p:txBody>
      </p:sp>
      <p:sp>
        <p:nvSpPr>
          <p:cNvPr id="25" name="future3-method"/>
          <p:cNvSpPr txBox="1"/>
          <p:nvPr/>
        </p:nvSpPr>
        <p:spPr>
          <a:xfrm>
            <a:off x="711200" y="4025900"/>
            <a:ext cx="5016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6000"/>
              </a:lnSpc>
            </a:pPr>
            <a:r>
              <a:rPr lang="en-US" sz="122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拟解决问题｜</a:t>
            </a:r>
            <a:r>
              <a:rPr 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结合过程模型、贝叶斯更新与联邦学习，拓展已有航空发动机方面的尝试。</a:t>
            </a:r>
            <a:endParaRPr lang="en-US" sz="1220" noProof="1"/>
          </a:p>
        </p:txBody>
      </p:sp>
      <p:sp>
        <p:nvSpPr>
          <p:cNvPr id="26" name="future3-value-bg"/>
          <p:cNvSpPr/>
          <p:nvPr/>
        </p:nvSpPr>
        <p:spPr>
          <a:xfrm>
            <a:off x="660400" y="4787900"/>
            <a:ext cx="5168900" cy="35560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>
            <a:noFill/>
          </a:ln>
        </p:spPr>
      </p:sp>
      <p:sp>
        <p:nvSpPr>
          <p:cNvPr id="27" name="future3-value"/>
          <p:cNvSpPr txBox="1"/>
          <p:nvPr/>
        </p:nvSpPr>
        <p:spPr>
          <a:xfrm>
            <a:off x="787400" y="4826000"/>
            <a:ext cx="49149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20" b="1" noProof="1">
                <a:solidFill>
                  <a:srgbClr val="245C80"/>
                </a:solidFill>
                <a:latin typeface="微软雅黑" panose="020B0503020204020204" charset="-122"/>
                <a:ea typeface="微软雅黑" panose="020B0503020204020204" charset="-122"/>
              </a:rPr>
              <a:t>应用价值｜服务数据受限条件下的多主体协同寿命预测</a:t>
            </a:r>
            <a:endParaRPr lang="en-US" sz="1120" noProof="1"/>
          </a:p>
        </p:txBody>
      </p:sp>
      <p:sp>
        <p:nvSpPr>
          <p:cNvPr id="28" name="future4-card"/>
          <p:cNvSpPr/>
          <p:nvPr/>
        </p:nvSpPr>
        <p:spPr>
          <a:xfrm>
            <a:off x="6184900" y="3467100"/>
            <a:ext cx="5524500" cy="184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DCE6"/>
            </a:solidFill>
          </a:ln>
        </p:spPr>
      </p:sp>
      <p:sp>
        <p:nvSpPr>
          <p:cNvPr id="29" name="future4-accent"/>
          <p:cNvSpPr/>
          <p:nvPr/>
        </p:nvSpPr>
        <p:spPr>
          <a:xfrm>
            <a:off x="6184900" y="3467100"/>
            <a:ext cx="63500" cy="1841500"/>
          </a:xfrm>
          <a:prstGeom prst="rect">
            <a:avLst/>
          </a:prstGeom>
          <a:solidFill>
            <a:srgbClr val="123A63"/>
          </a:solidFill>
          <a:ln>
            <a:noFill/>
          </a:ln>
        </p:spPr>
      </p:sp>
      <p:sp>
        <p:nvSpPr>
          <p:cNvPr id="30" name="future4-icon"/>
          <p:cNvSpPr/>
          <p:nvPr/>
        </p:nvSpPr>
        <p:spPr>
          <a:xfrm>
            <a:off x="6438900" y="3644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3A7CA5"/>
          </a:solidFill>
          <a:ln>
            <a:noFill/>
          </a:ln>
        </p:spPr>
      </p:sp>
      <p:sp>
        <p:nvSpPr>
          <p:cNvPr id="31" name="future4-title"/>
          <p:cNvSpPr txBox="1"/>
          <p:nvPr/>
        </p:nvSpPr>
        <p:spPr>
          <a:xfrm>
            <a:off x="6794500" y="3606800"/>
            <a:ext cx="46609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18000"/>
              </a:lnSpc>
            </a:pPr>
            <a:r>
              <a:rPr lang="en-US" sz="1500" b="1" noProof="1">
                <a:solidFill>
                  <a:srgbClr val="0A1F3D"/>
                </a:solidFill>
                <a:latin typeface="微软雅黑" panose="020B0503020204020204" charset="-122"/>
                <a:ea typeface="微软雅黑" panose="020B0503020204020204" charset="-122"/>
              </a:rPr>
              <a:t>人工智能系统可靠性｜预测与自评并重</a:t>
            </a:r>
            <a:endParaRPr lang="en-US" sz="1500" noProof="1"/>
          </a:p>
        </p:txBody>
      </p:sp>
      <p:sp>
        <p:nvSpPr>
          <p:cNvPr id="32" name="future4-method"/>
          <p:cNvSpPr txBox="1"/>
          <p:nvPr/>
        </p:nvSpPr>
        <p:spPr>
          <a:xfrm>
            <a:off x="6438900" y="4025900"/>
            <a:ext cx="5016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6000"/>
              </a:lnSpc>
            </a:pPr>
            <a:r>
              <a:rPr lang="en-US" sz="1220" b="1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拟解决问题｜</a:t>
            </a:r>
            <a:r>
              <a:rPr lang="en-US" sz="1220" noProof="1">
                <a:solidFill>
                  <a:srgbClr val="122033"/>
                </a:solidFill>
                <a:latin typeface="微软雅黑" panose="020B0503020204020204" charset="-122"/>
                <a:ea typeface="微软雅黑" panose="020B0503020204020204" charset="-122"/>
              </a:rPr>
              <a:t>融合统计建模与深度学习用于健康管理，同时评估智能模型与装备自身的可靠性。</a:t>
            </a:r>
            <a:endParaRPr lang="en-US" sz="1220" noProof="1"/>
          </a:p>
        </p:txBody>
      </p:sp>
      <p:sp>
        <p:nvSpPr>
          <p:cNvPr id="33" name="future4-value-bg"/>
          <p:cNvSpPr/>
          <p:nvPr/>
        </p:nvSpPr>
        <p:spPr>
          <a:xfrm>
            <a:off x="6388100" y="4787900"/>
            <a:ext cx="5168900" cy="35560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>
            <a:noFill/>
          </a:ln>
        </p:spPr>
      </p:sp>
      <p:sp>
        <p:nvSpPr>
          <p:cNvPr id="34" name="future4-value"/>
          <p:cNvSpPr txBox="1"/>
          <p:nvPr/>
        </p:nvSpPr>
        <p:spPr>
          <a:xfrm>
            <a:off x="6515100" y="4826000"/>
            <a:ext cx="49149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20" b="1" noProof="1">
                <a:solidFill>
                  <a:srgbClr val="245C80"/>
                </a:solidFill>
                <a:latin typeface="微软雅黑" panose="020B0503020204020204" charset="-122"/>
                <a:ea typeface="微软雅黑" panose="020B0503020204020204" charset="-122"/>
              </a:rPr>
              <a:t>应用价值｜为智能装备安全运行与模型更新提供评价依据</a:t>
            </a:r>
            <a:endParaRPr lang="en-US" sz="1120" noProof="1"/>
          </a:p>
        </p:txBody>
      </p:sp>
      <p:sp>
        <p:nvSpPr>
          <p:cNvPr id="35" name="closing-band"/>
          <p:cNvSpPr/>
          <p:nvPr/>
        </p:nvSpPr>
        <p:spPr>
          <a:xfrm>
            <a:off x="457200" y="5499100"/>
            <a:ext cx="11252200" cy="9398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0A1F3D"/>
              </a:gs>
              <a:gs pos="100000">
                <a:srgbClr val="1E4E7A"/>
              </a:gs>
            </a:gsLst>
            <a:lin ang="0" scaled="1"/>
          </a:gradFill>
          <a:ln>
            <a:noFill/>
          </a:ln>
        </p:spPr>
      </p:sp>
      <p:sp>
        <p:nvSpPr>
          <p:cNvPr id="36" name="closing-title"/>
          <p:cNvSpPr txBox="1"/>
          <p:nvPr/>
        </p:nvSpPr>
        <p:spPr>
          <a:xfrm>
            <a:off x="698500" y="5664200"/>
            <a:ext cx="7175500" cy="292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请各位专家批评指正。</a:t>
            </a:r>
            <a:endParaRPr lang="en-US" sz="1500" noProof="1"/>
          </a:p>
        </p:txBody>
      </p:sp>
      <p:sp>
        <p:nvSpPr>
          <p:cNvPr id="37" name="closing-subtitle"/>
          <p:cNvSpPr txBox="1"/>
          <p:nvPr/>
        </p:nvSpPr>
        <p:spPr>
          <a:xfrm>
            <a:off x="698500" y="6019800"/>
            <a:ext cx="717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C5D6E6"/>
                </a:solidFill>
                <a:latin typeface="微软雅黑" panose="020B0503020204020204" charset="-122"/>
                <a:ea typeface="微软雅黑" panose="020B0503020204020204" charset="-122"/>
              </a:rPr>
              <a:t>让评估结果可更新、可核验，让研究方法可协作、可应用。</a:t>
            </a:r>
            <a:endParaRPr lang="en-US" sz="1150" noProof="1"/>
          </a:p>
        </p:txBody>
      </p:sp>
      <p:sp>
        <p:nvSpPr>
          <p:cNvPr id="38" name="closing-contact"/>
          <p:cNvSpPr txBox="1"/>
          <p:nvPr/>
        </p:nvSpPr>
        <p:spPr>
          <a:xfrm>
            <a:off x="8356600" y="5651500"/>
            <a:ext cx="312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xuancha@mail.zjgsu.edu.cn</a:t>
            </a:r>
            <a:endParaRPr lang="en-US" sz="1150" noProof="1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1150" noProof="1">
                <a:solidFill>
                  <a:srgbClr val="C5D6E6"/>
                </a:solidFill>
                <a:latin typeface="微软雅黑" panose="020B0503020204020204" charset="-122"/>
                <a:ea typeface="微软雅黑" panose="020B0503020204020204" charset="-122"/>
              </a:rPr>
              <a:t>www.xu-ancha.com</a:t>
            </a:r>
            <a:endParaRPr lang="en-US" sz="1150" noProof="1"/>
          </a:p>
        </p:txBody>
      </p:sp>
      <p:sp>
        <p:nvSpPr>
          <p:cNvPr id="39" name="footer-bar"/>
          <p:cNvSpPr/>
          <p:nvPr/>
        </p:nvSpPr>
        <p:spPr>
          <a:xfrm>
            <a:off x="0" y="6638290"/>
            <a:ext cx="12192000" cy="219710"/>
          </a:xfrm>
          <a:prstGeom prst="rect">
            <a:avLst/>
          </a:prstGeom>
          <a:solidFill>
            <a:srgbClr val="0A1F3D"/>
          </a:solidFill>
          <a:ln>
            <a:noFill/>
          </a:ln>
        </p:spPr>
      </p:sp>
      <p:sp>
        <p:nvSpPr>
          <p:cNvPr id="40" name="footer-name"/>
          <p:cNvSpPr txBox="1"/>
          <p:nvPr/>
        </p:nvSpPr>
        <p:spPr>
          <a:xfrm>
            <a:off x="494030" y="6657340"/>
            <a:ext cx="92532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8000"/>
              </a:lnSpc>
            </a:pPr>
            <a:r>
              <a:rPr lang="en-US" sz="1000" noProof="1">
                <a:solidFill>
                  <a:srgbClr val="B8CDDE"/>
                </a:solidFill>
                <a:latin typeface="微软雅黑" panose="020B0503020204020204" charset="-122"/>
                <a:ea typeface="微软雅黑" panose="020B0503020204020204" charset="-122"/>
              </a:rPr>
              <a:t>徐安察    浙江工商大学统计与数据科学学院</a:t>
            </a:r>
            <a:endParaRPr lang="en-US" sz="1000" noProof="1"/>
          </a:p>
        </p:txBody>
      </p:sp>
      <p:sp>
        <p:nvSpPr>
          <p:cNvPr id="41" name="footer-page"/>
          <p:cNvSpPr txBox="1"/>
          <p:nvPr/>
        </p:nvSpPr>
        <p:spPr>
          <a:xfrm>
            <a:off x="10552430" y="6657340"/>
            <a:ext cx="12065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18000"/>
              </a:lnSpc>
            </a:pPr>
            <a:r>
              <a:rPr lang="en-US" sz="1000" noProof="1">
                <a:solidFill>
                  <a:srgbClr val="C5D6E6"/>
                </a:solidFill>
                <a:latin typeface="微软雅黑" panose="020B0503020204020204" charset="-122"/>
                <a:ea typeface="微软雅黑" panose="020B0503020204020204" charset="-122"/>
              </a:rPr>
              <a:t>04  /  04</a:t>
            </a:r>
            <a:endParaRPr lang="en-US" sz="1000" noProof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2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3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4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5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6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7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8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9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10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11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12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13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14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15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16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17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18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19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20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21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22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23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24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25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26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ags/tag27.xml><?xml version="1.0" encoding="utf-8"?>
<p:tagLst xmlns:p="http://schemas.openxmlformats.org/presentationml/2006/main">
  <p:tag name="KSO_WM_DIAGRAM_VIRTUALLY_FRAME" val="{&quot;height&quot;:328,&quot;left&quot;:36,&quot;top&quot;:178,&quot;width&quot;:886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PTD">
  <a:themeElements>
    <a:clrScheme name="PPT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2289</Words>
  <Application>WPS 演示</Application>
  <PresentationFormat/>
  <Paragraphs>209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MiSans</vt:lpstr>
      <vt:lpstr>MiSans Demibold</vt:lpstr>
      <vt:lpstr>Arial Unicode MS</vt:lpstr>
      <vt:lpstr>Calibri</vt:lpstr>
      <vt:lpstr>MiSans Semibold</vt:lpstr>
      <vt:lpstr>Arial</vt:lpstr>
      <vt:lpstr>PPTD</vt:lpstr>
      <vt:lpstr>1_PPTD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徐安察研究介绍（专家汇报润色版）</dc:title>
  <dc:creator/>
  <cp:lastModifiedBy>徐安察</cp:lastModifiedBy>
  <cp:revision>7</cp:revision>
  <dcterms:created xsi:type="dcterms:W3CDTF">2026-10-28T04:22:05Z</dcterms:created>
  <dcterms:modified xsi:type="dcterms:W3CDTF">2026-10-28T04:50:01Z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2052-12.1.0.28802</vt:lpwstr>
  </property>
  <property fmtid="{D5CDD505-2E9C-101B-9397-08002B2CF9AE}" pid="4" name="ICV">
    <vt:lpwstr>D5F021F619F84E34AED158DBB3822C3F_12</vt:lpwstr>
  </property>
</Properties>
</file>