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先报姓名和单位。教学点课程和学生去向，提一句好导师和挑战杯即可。科研报论文、书、基金和分会兼职。不要念完每一行。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先把背景讲完：失效少，所以看退化轨迹。再提四个具体麻烦。最后两句说我们做什么，不要念成口号。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点两篇就够：Student-t 和两阶段逆高斯。书一句话带过。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统计同行多讲 SJS 和 NRL。工业上可以提航空发动机。不要说“不是更快的 MCMC”这种对比句。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小样本举屏蔽数据或加速试验，应用举永磁制动器或华为。后面的问题挑一两个问在座的人。不要再报论文篇数。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703320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23A63"/>
              </a:gs>
            </a:gsLst>
            <a:lin ang="120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05840" y="-914400"/>
            <a:ext cx="2926080" cy="2926080"/>
          </a:xfrm>
          <a:prstGeom prst="ellipse">
            <a:avLst/>
          </a:prstGeom>
          <a:solidFill>
            <a:srgbClr val="3A7CA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03120" y="5120640"/>
            <a:ext cx="2377440" cy="2377440"/>
          </a:xfrm>
          <a:prstGeom prst="ellipse">
            <a:avLst/>
          </a:prstGeom>
          <a:solidFill>
            <a:srgbClr val="1E4E7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search-intro-portra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02920"/>
            <a:ext cx="2267712" cy="2267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944368"/>
            <a:ext cx="3246120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徐安察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3401568"/>
            <a:ext cx="324612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3A7CA5"/>
                </a:solidFill>
                <a:latin typeface="微软雅黑"/>
                <a:ea typeface="微软雅黑"/>
              </a:rPr>
              <a:t>教授  ·  博士生导师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3785615"/>
            <a:ext cx="585216" cy="27432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3950208"/>
            <a:ext cx="3246120" cy="10515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lnSpc>
                <a:spcPct val="118000"/>
              </a:lnSpc>
              <a:spcAft>
                <a:spcPts val="300"/>
              </a:spcAft>
            </a:pPr>
            <a:r>
              <a:rPr sz="1300" b="0">
                <a:solidFill>
                  <a:srgbClr val="C5D6E6"/>
                </a:solidFill>
                <a:latin typeface="微软雅黑"/>
                <a:ea typeface="微软雅黑"/>
              </a:rPr>
              <a:t>浙江工商大学</a:t>
            </a:r>
          </a:p>
          <a:p>
            <a:pPr algn="ctr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C5D6E6"/>
                </a:solidFill>
                <a:latin typeface="微软雅黑"/>
                <a:ea typeface="微软雅黑"/>
              </a:rPr>
              <a:t>统计与数据科学学院</a:t>
            </a:r>
          </a:p>
          <a:p>
            <a:pPr algn="ctr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B8CDDE"/>
                </a:solidFill>
                <a:latin typeface="微软雅黑"/>
                <a:ea typeface="微软雅黑"/>
              </a:rPr>
              <a:t>xuancha@mail.zjgsu.edu.cn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8CDDE"/>
                </a:solidFill>
                <a:latin typeface="微软雅黑"/>
                <a:ea typeface="微软雅黑"/>
              </a:rPr>
              <a:t>www.xu-ancha.com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29184"/>
            <a:ext cx="7680960" cy="219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3A7CA5"/>
                </a:solidFill>
                <a:latin typeface="微软雅黑"/>
                <a:ea typeface="微软雅黑"/>
              </a:rPr>
              <a:t>浙江工商大学统计与数据科学学院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566928"/>
            <a:ext cx="7680960" cy="40233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0A1F3D"/>
                </a:solidFill>
                <a:latin typeface="微软雅黑"/>
                <a:ea typeface="微软雅黑"/>
              </a:rPr>
              <a:t>个人简介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1024128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170432"/>
            <a:ext cx="7680960" cy="5029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500" b="0">
                <a:solidFill>
                  <a:srgbClr val="122033"/>
                </a:solidFill>
                <a:latin typeface="微软雅黑"/>
                <a:ea typeface="微软雅黑"/>
              </a:rPr>
              <a:t>主要做退化数据、寿命数据和贝叶斯方法。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22033"/>
                </a:solidFill>
                <a:latin typeface="微软雅黑"/>
                <a:ea typeface="微软雅黑"/>
              </a:rPr>
              <a:t>下面分教学、人才培养和科研说一下。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1810512"/>
            <a:ext cx="3840480" cy="4498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9080" y="1810512"/>
            <a:ext cx="64008" cy="4498848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1938528"/>
            <a:ext cx="342900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教学与人才培养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304288"/>
            <a:ext cx="3429000" cy="38404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本科开过统计质量管理、贝叶斯数据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分析、概率论；研究生开过可靠性、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贝叶斯计算。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带博士和硕士。学生里有人拿到国家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奖学金，也有人去了南京理工大学、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温州大学等高校。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两次评上「我心目中的好导师」。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带过挑战杯，作品拿到过全国二等奖。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810512"/>
            <a:ext cx="3657600" cy="4498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810512"/>
            <a:ext cx="64008" cy="4498848"/>
          </a:xfrm>
          <a:prstGeom prst="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1938528"/>
            <a:ext cx="324612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科学研究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304288"/>
            <a:ext cx="3246120" cy="38404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一作或通讯六十多篇，其中 6 篇是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ESI 高被引。刊物主要是 NRL、SJS、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JQT、EJOR、IEEE TR、IISE。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2025 年出了一本《随机退化过程与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统计建模》。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主持国自然青年基金和三项面上，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还有省基金重点。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省自然科学奖。现在是可靠性分会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副理事长，STARF 副主编。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3A7CA5"/>
                </a:solidFill>
                <a:latin typeface="微软雅黑"/>
                <a:ea typeface="微软雅黑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40233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>
                <a:solidFill>
                  <a:srgbClr val="0A1F3D"/>
                </a:solidFill>
                <a:latin typeface="微软雅黑"/>
                <a:ea typeface="微软雅黑"/>
              </a:rPr>
              <a:t>研究背景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32688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38544"/>
            <a:ext cx="932688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B8CDDE"/>
                </a:solidFill>
                <a:latin typeface="微软雅黑"/>
                <a:ea typeface="微软雅黑"/>
              </a:rPr>
              <a:t>徐安察    浙江工商大学统计与数据科学学院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63854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5D6E6"/>
                </a:solidFill>
                <a:latin typeface="微软雅黑"/>
                <a:ea typeface="微软雅黑"/>
              </a:rPr>
              <a:t>02  / 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33856"/>
            <a:ext cx="11247120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33856"/>
            <a:ext cx="64008" cy="2148840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80160"/>
            <a:ext cx="10789920" cy="1874519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122033"/>
                </a:solidFill>
                <a:latin typeface="微软雅黑"/>
                <a:ea typeface="微软雅黑"/>
              </a:rPr>
              <a:t>很多高可靠产品，试验期内几乎看不到失效。寿命数据大多是删失，能用的信息很少。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122033"/>
                </a:solidFill>
                <a:latin typeface="微软雅黑"/>
                <a:ea typeface="微软雅黑"/>
              </a:rPr>
              <a:t>现在更常见的是把电流、裂纹、光强、转矩这些量跟着测下来。轨迹本身比失效时间细。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122033"/>
                </a:solidFill>
                <a:latin typeface="微软雅黑"/>
                <a:ea typeface="微软雅黑"/>
              </a:rPr>
              <a:t>问题也跟着来：样本往往不大，指标常常不止一个，个体差异明显，数据还是一批批到的。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22033"/>
                </a:solidFill>
                <a:latin typeface="微软雅黑"/>
                <a:ea typeface="微软雅黑"/>
              </a:rPr>
              <a:t>先验稍微定偏，后验就会跟着走；每来一批新数据就重估一遍，也不方便。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38144"/>
            <a:ext cx="112471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A1F3D"/>
                </a:solidFill>
                <a:latin typeface="微软雅黑"/>
                <a:ea typeface="微软雅黑"/>
              </a:rPr>
              <a:t>做的时候会碰到的几个具体问题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85615"/>
            <a:ext cx="2788920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3877056"/>
            <a:ext cx="251460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样本小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4187952"/>
            <a:ext cx="2514600" cy="5486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5B6B7C"/>
                </a:solidFill>
                <a:latin typeface="微软雅黑"/>
                <a:ea typeface="微软雅黑"/>
              </a:rPr>
              <a:t>失效少，先验不好定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3785615"/>
            <a:ext cx="2788920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3877056"/>
            <a:ext cx="251460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指标多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4187952"/>
            <a:ext cx="2514600" cy="5486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5B6B7C"/>
                </a:solidFill>
                <a:latin typeface="微软雅黑"/>
                <a:ea typeface="微软雅黑"/>
              </a:rPr>
              <a:t>几个量一起退化，还可能相关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3785615"/>
            <a:ext cx="2788920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877056"/>
            <a:ext cx="251460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个体差得大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187952"/>
            <a:ext cx="2514600" cy="5486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5B6B7C"/>
                </a:solidFill>
                <a:latin typeface="微软雅黑"/>
                <a:ea typeface="微软雅黑"/>
              </a:rPr>
              <a:t>有随机效应，也有两阶段、两种尺度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0576" y="3785615"/>
            <a:ext cx="2788920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3877056"/>
            <a:ext cx="251460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数据陆续来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4187952"/>
            <a:ext cx="2514600" cy="5486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5B6B7C"/>
                </a:solidFill>
                <a:latin typeface="微软雅黑"/>
                <a:ea typeface="微软雅黑"/>
              </a:rPr>
              <a:t>不太适合每次重跑全样本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029200"/>
            <a:ext cx="11247120" cy="1408176"/>
          </a:xfrm>
          <a:prstGeom prst="roundRect">
            <a:avLst>
              <a:gd name="adj" fmla="val 4000"/>
            </a:avLst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38928"/>
            <a:ext cx="108813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3A7CA5"/>
                </a:solidFill>
                <a:latin typeface="微软雅黑"/>
                <a:ea typeface="微软雅黑"/>
              </a:rPr>
              <a:t>我们现在主要做的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413248"/>
            <a:ext cx="10881360" cy="8686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</a:rPr>
              <a:t>把退化过程写清楚，再用贝叶斯方法做可靠性评估和剩余寿命预测。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C5D6E6"/>
                </a:solidFill>
                <a:latin typeface="微软雅黑"/>
                <a:ea typeface="微软雅黑"/>
              </a:rPr>
              <a:t>具体包括过程建模、在线更新、小样本下的客观先验，以及加速试验和现场数据怎么放在一起。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3A7CA5"/>
                </a:solidFill>
                <a:latin typeface="微软雅黑"/>
                <a:ea typeface="微软雅黑"/>
              </a:rPr>
              <a:t>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40233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>
                <a:solidFill>
                  <a:srgbClr val="0A1F3D"/>
                </a:solidFill>
                <a:latin typeface="微软雅黑"/>
                <a:ea typeface="微软雅黑"/>
              </a:rPr>
              <a:t>退化过程上的几项工作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32688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38544"/>
            <a:ext cx="932688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B8CDDE"/>
                </a:solidFill>
                <a:latin typeface="微软雅黑"/>
                <a:ea typeface="微软雅黑"/>
              </a:rPr>
              <a:t>徐安察    浙江工商大学统计与数据科学学院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63854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5D6E6"/>
                </a:solidFill>
                <a:latin typeface="微软雅黑"/>
                <a:ea typeface="微软雅黑"/>
              </a:rPr>
              <a:t>03  / 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还是 Wiener、逆高斯、Gamma 这几类。后来多半是在这上面处理指标相关、两阶段、两种时间尺度，以及尾部偏厚的情形。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566928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45920"/>
            <a:ext cx="64008" cy="1444752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792224"/>
            <a:ext cx="521208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多元 Wiener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121408"/>
            <a:ext cx="52120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二元和层次模型，退化速率和波动可以相关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51760"/>
            <a:ext cx="521208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IEEE TR，2018、2026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645920"/>
            <a:ext cx="566928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645920"/>
            <a:ext cx="64008" cy="1444752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792224"/>
            <a:ext cx="521208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多元 Student-t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121408"/>
            <a:ext cx="52120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用来拟合尾部比较重的多指标退化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651760"/>
            <a:ext cx="521208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IISE Transactions，2025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18688"/>
            <a:ext cx="566928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218688"/>
            <a:ext cx="64008" cy="1444752"/>
          </a:xfrm>
          <a:prstGeom prst="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364992"/>
            <a:ext cx="521208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两阶段逆高斯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694176"/>
            <a:ext cx="52120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重参数化以后做变点和剩余寿命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224528"/>
            <a:ext cx="521208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EJOR，2024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218688"/>
            <a:ext cx="566928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218688"/>
            <a:ext cx="64008" cy="1444752"/>
          </a:xfrm>
          <a:prstGeom prst="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3364992"/>
            <a:ext cx="521208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双尺度逆高斯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3694176"/>
            <a:ext cx="52120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带随机效应，两种时间尺度可以放在一起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4224528"/>
            <a:ext cx="521208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IISE Transactions，Featured Article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01184"/>
            <a:ext cx="11247120" cy="1517904"/>
          </a:xfrm>
          <a:prstGeom prst="roundRect">
            <a:avLst>
              <a:gd name="adj" fmla="val 4000"/>
            </a:avLst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029200"/>
            <a:ext cx="10835640" cy="219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3A7CA5"/>
                </a:solidFill>
                <a:latin typeface="微软雅黑"/>
                <a:ea typeface="微软雅黑"/>
              </a:rPr>
              <a:t>书和在做的项目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" y="5285232"/>
            <a:ext cx="10835640" cy="9144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去年出了一本《随机退化过程与统计建模》，和汤银才、庄亮亮一起写的。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C5D6E6"/>
                </a:solidFill>
                <a:latin typeface="微软雅黑"/>
                <a:ea typeface="微软雅黑"/>
              </a:rPr>
              <a:t>手上的面上项目是多维偏态厚尾退化，以及相应的贝叶斯试验设计。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3A7CA5"/>
                </a:solidFill>
                <a:latin typeface="微软雅黑"/>
                <a:ea typeface="微软雅黑"/>
              </a:rPr>
              <a:t>推断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40233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>
                <a:solidFill>
                  <a:srgbClr val="0A1F3D"/>
                </a:solidFill>
                <a:latin typeface="微软雅黑"/>
                <a:ea typeface="微软雅黑"/>
              </a:rPr>
              <a:t>在线推断和剩余寿命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32688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38544"/>
            <a:ext cx="932688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B8CDDE"/>
                </a:solidFill>
                <a:latin typeface="微软雅黑"/>
                <a:ea typeface="微软雅黑"/>
              </a:rPr>
              <a:t>徐安察    浙江工商大学统计与数据科学学院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63854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5D6E6"/>
                </a:solidFill>
                <a:latin typeface="微软雅黑"/>
                <a:ea typeface="微软雅黑"/>
              </a:rPr>
              <a:t>04  / 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11155680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退化监测一般是陆续来的。后验如果能递推，就不必每来一批数据重新估一遍。Gamma 和逆高斯在合适的参数化下可以走共轭。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2788920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73936"/>
            <a:ext cx="2514600" cy="31089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共轭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139696"/>
            <a:ext cx="2514600" cy="6949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5B6B7C"/>
                </a:solidFill>
                <a:latin typeface="微软雅黑"/>
                <a:ea typeface="微软雅黑"/>
              </a:rPr>
              <a:t>先验选得好，后验还能写成同类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645920"/>
            <a:ext cx="2788920" cy="1353312"/>
          </a:xfrm>
          <a:prstGeom prst="roundRect">
            <a:avLst>
              <a:gd name="adj" fmla="val 5000"/>
            </a:avLst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773936"/>
            <a:ext cx="2514600" cy="31089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递推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139696"/>
            <a:ext cx="2514600" cy="6949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C5D6E6"/>
                </a:solidFill>
                <a:latin typeface="微软雅黑"/>
                <a:ea typeface="微软雅黑"/>
              </a:rPr>
              <a:t>新数据进来，更新几个超参数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4" y="1645920"/>
            <a:ext cx="2788920" cy="1353312"/>
          </a:xfrm>
          <a:prstGeom prst="roundRect">
            <a:avLst>
              <a:gd name="adj" fmla="val 5000"/>
            </a:avLst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773936"/>
            <a:ext cx="2514600" cy="31089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剩余寿命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139696"/>
            <a:ext cx="2514600" cy="6949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C5D6E6"/>
                </a:solidFill>
                <a:latin typeface="微软雅黑"/>
                <a:ea typeface="微软雅黑"/>
              </a:rPr>
              <a:t>用当前后验直接算，不必重估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0576" y="1645920"/>
            <a:ext cx="2788920" cy="13533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773936"/>
            <a:ext cx="2514600" cy="31089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A1F3D"/>
                </a:solidFill>
                <a:latin typeface="微软雅黑"/>
                <a:ea typeface="微软雅黑"/>
              </a:rPr>
              <a:t>异常点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139696"/>
            <a:ext cx="2514600" cy="6949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5B6B7C"/>
                </a:solidFill>
                <a:latin typeface="微软雅黑"/>
                <a:ea typeface="微软雅黑"/>
              </a:rPr>
              <a:t>个别离谱的观测，不要把整条轨迹带偏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83280"/>
            <a:ext cx="5669280" cy="1316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511296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Gamma 过程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822192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共轭先验下的递归预测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261104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Scandinavian Journal of Statistics，2026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3383280"/>
            <a:ext cx="5669280" cy="1316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3511296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逆高斯过程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3822192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在线估计和剩余寿命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4261104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Naval Research Logistics，2025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828032"/>
            <a:ext cx="5669280" cy="1316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956048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维修决策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266944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把剩余寿命用到维修安排上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705856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RESS，2023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4828032"/>
            <a:ext cx="5669280" cy="1316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956048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航空发动机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5266944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数据不出域的联邦学习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5705856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3A7CA5"/>
                </a:solidFill>
                <a:latin typeface="微软雅黑"/>
                <a:ea typeface="微软雅黑"/>
              </a:rPr>
              <a:t>Applied Soft Computing，2025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3A7CA5"/>
                </a:solidFill>
                <a:latin typeface="微软雅黑"/>
                <a:ea typeface="微软雅黑"/>
              </a:rPr>
              <a:t>其他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40233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>
                <a:solidFill>
                  <a:srgbClr val="0A1F3D"/>
                </a:solidFill>
                <a:latin typeface="微软雅黑"/>
                <a:ea typeface="微软雅黑"/>
              </a:rPr>
              <a:t>小样本、应用，还有没做完的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32688"/>
            <a:ext cx="384048" cy="36576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38544"/>
            <a:ext cx="932688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B8CDDE"/>
                </a:solidFill>
                <a:latin typeface="微软雅黑"/>
                <a:ea typeface="微软雅黑"/>
              </a:rPr>
              <a:t>徐安察    浙江工商大学统计与数据科学学院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63854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5D6E6"/>
                </a:solidFill>
                <a:latin typeface="微软雅黑"/>
                <a:ea typeface="微软雅黑"/>
              </a:rPr>
              <a:t>05  / 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33856"/>
            <a:ext cx="3675887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33856"/>
            <a:ext cx="3675887" cy="54864"/>
          </a:xfrm>
          <a:prstGeom prst="rect">
            <a:avLst/>
          </a:prstGeom>
          <a:solidFill>
            <a:srgbClr val="3A7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35024"/>
            <a:ext cx="3310128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小样本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83664"/>
            <a:ext cx="3310128" cy="26974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博士阶段开始做参考先验和后验正常性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后来做到屏蔽数据、竞争失效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也做加速寿命和加速退化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主要写在 IEEE TR、CSDA、JSPI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33856"/>
            <a:ext cx="3675887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133856"/>
            <a:ext cx="3675887" cy="54864"/>
          </a:xfrm>
          <a:prstGeom prst="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335024"/>
            <a:ext cx="3310128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应用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883664"/>
            <a:ext cx="3310128" cy="26974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永磁制动器的小样本评估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和华为做过 Weibull 算法、隐患预警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动态环境下的系统可靠性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加速试验和现场数据怎么一起用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133856"/>
            <a:ext cx="3675887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0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133856"/>
            <a:ext cx="3675887" cy="54864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335024"/>
            <a:ext cx="3310128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>
                <a:solidFill>
                  <a:srgbClr val="0A1F3D"/>
                </a:solidFill>
                <a:latin typeface="微软雅黑"/>
                <a:ea typeface="微软雅黑"/>
              </a:rPr>
              <a:t>后面还想搞清楚的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883664"/>
            <a:ext cx="3310128" cy="26974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多维偏态厚尾，参数怎么定才稳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在线更新之后，区间还准不准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试验往现场外推，偏差从哪来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300" b="0">
                <a:solidFill>
                  <a:srgbClr val="122033"/>
                </a:solidFill>
                <a:latin typeface="微软雅黑"/>
                <a:ea typeface="微软雅黑"/>
              </a:rPr>
              <a:t>·  试验设计怎么同时照顾评估和预测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956048"/>
            <a:ext cx="11247120" cy="1481328"/>
          </a:xfrm>
          <a:prstGeom prst="roundRect">
            <a:avLst>
              <a:gd name="adj" fmla="val 4000"/>
            </a:avLst>
          </a:prstGeom>
          <a:ln>
            <a:noFill/>
          </a:ln>
          <a:effectLst/>
          <a:gradFill>
            <a:gsLst>
              <a:gs pos="0">
                <a:srgbClr val="0A1F3D"/>
              </a:gs>
              <a:gs pos="100000">
                <a:srgbClr val="1E4E7A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5120640"/>
            <a:ext cx="7680960" cy="10972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</a:rPr>
              <a:t>后面这几件事还没有想清楚，希望听听各位的意见。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C5D6E6"/>
                </a:solidFill>
                <a:latin typeface="微软雅黑"/>
                <a:ea typeface="微软雅黑"/>
              </a:rPr>
              <a:t>谢谢。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175504"/>
            <a:ext cx="2971800" cy="10515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xuancha@mail.zjgsu.edu.cn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C5D6E6"/>
                </a:solidFill>
                <a:latin typeface="微软雅黑"/>
                <a:ea typeface="微软雅黑"/>
              </a:rPr>
              <a:t>www.xu-ancha.com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