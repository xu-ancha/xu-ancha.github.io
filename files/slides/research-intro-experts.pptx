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1 分钟。先报姓名、单位、职称，再报四个研究方向。业绩只点三句：六十余篇一作通讯、一本专著、国自然青年加三项面上。奖项和服务各报一项：省自然科学奖、可靠性分会副理事长。下一页再讲为什么做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按三步讲，不要倒过来先报定位。第一步研究背景：高可靠导致寿命试验失效太少，退化轨迹成为主要信息。第二步四个困难各举半句现场例子：永磁制动器是小样本，重型机床是多指标，激光器常有个体差异，航空发动机是流式监测。第三步才读出定位那两句，并点名四条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机理仍用 Wiener / IG / Gamma，扩展集中在相依、变点、双尺度和尾部。点两篇即可：Student-t（IISE）与两阶段 rIG（EJOR）。专著一句收口。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关键句：我们要的是可递归的后验，不是更快的 MCMC。中间四格从左到右讲。统计同行点 SJS 与 NRL；工业同行可多讲航空发动机。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这页留给讨论。前两列各举一例。开放问题按听者选一两个。业绩已在第 1 页说过，这里不要再报数字。最后停在欢迎批评。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23A63"/>
              </a:gs>
            </a:gsLst>
            <a:lin ang="120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05840" y="-914400"/>
            <a:ext cx="2926080" cy="2926080"/>
          </a:xfrm>
          <a:prstGeom prst="ellipse">
            <a:avLst/>
          </a:prstGeom>
          <a:solidFill>
            <a:srgbClr val="3A7CA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03120" y="5120640"/>
            <a:ext cx="2377440" cy="2377440"/>
          </a:xfrm>
          <a:prstGeom prst="ellipse">
            <a:avLst/>
          </a:prstGeom>
          <a:solidFill>
            <a:srgbClr val="1E4E7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search-intro-portr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02920"/>
            <a:ext cx="2267712" cy="226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944368"/>
            <a:ext cx="3246120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徐安察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3401568"/>
            <a:ext cx="324612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3A7CA5"/>
                </a:solidFill>
                <a:latin typeface="微软雅黑"/>
                <a:ea typeface="微软雅黑"/>
              </a:rPr>
              <a:t>教授  ·  博士生导师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785615"/>
            <a:ext cx="585216" cy="2743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3950208"/>
            <a:ext cx="3246120" cy="10515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浙江工商大学</a:t>
            </a:r>
          </a:p>
          <a:p>
            <a:pPr algn="ctr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统计与数据科学学院</a:t>
            </a:r>
          </a:p>
          <a:p>
            <a:pPr algn="ctr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B8CDDE"/>
                </a:solidFill>
                <a:latin typeface="微软雅黑"/>
                <a:ea typeface="微软雅黑"/>
              </a:rPr>
              <a:t>xuancha@mail.zjgsu.edu.cn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8CDDE"/>
                </a:solidFill>
                <a:latin typeface="微软雅黑"/>
                <a:ea typeface="微软雅黑"/>
              </a:rPr>
              <a:t>www.xu-ancha.com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92608"/>
            <a:ext cx="768096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研究工作简介  ·  同行专家交流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530352"/>
            <a:ext cx="7680960" cy="42062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0A1F3D"/>
                </a:solidFill>
                <a:latin typeface="微软雅黑"/>
                <a:ea typeface="微软雅黑"/>
              </a:rPr>
              <a:t>个人研究与业绩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005840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5989320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8CDDE"/>
                </a:solidFill>
                <a:latin typeface="微软雅黑"/>
                <a:ea typeface="微软雅黑"/>
              </a:rPr>
              <a:t>可靠性统计  ·  退化过程  ·  贝叶斯推断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152144"/>
            <a:ext cx="768096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研究方向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1371600"/>
            <a:ext cx="3794760" cy="310896"/>
          </a:xfrm>
          <a:prstGeom prst="roundRect">
            <a:avLst>
              <a:gd name="adj" fmla="val 50000"/>
            </a:avLst>
          </a:prstGeom>
          <a:solidFill>
            <a:srgbClr val="E8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1371600"/>
            <a:ext cx="3794760" cy="31089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123A63"/>
                </a:solidFill>
                <a:latin typeface="微软雅黑"/>
                <a:ea typeface="微软雅黑"/>
              </a:rPr>
              <a:t>退化数据分析与建模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371600"/>
            <a:ext cx="3794760" cy="310896"/>
          </a:xfrm>
          <a:prstGeom prst="roundRect">
            <a:avLst>
              <a:gd name="adj" fmla="val 50000"/>
            </a:avLst>
          </a:prstGeom>
          <a:solidFill>
            <a:srgbClr val="E8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71600"/>
            <a:ext cx="3794760" cy="31089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123A63"/>
                </a:solidFill>
                <a:latin typeface="微软雅黑"/>
                <a:ea typeface="微软雅黑"/>
              </a:rPr>
              <a:t>贝叶斯在线学习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1737360"/>
            <a:ext cx="3794760" cy="310896"/>
          </a:xfrm>
          <a:prstGeom prst="roundRect">
            <a:avLst>
              <a:gd name="adj" fmla="val 50000"/>
            </a:avLst>
          </a:prstGeom>
          <a:solidFill>
            <a:srgbClr val="E8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737360"/>
            <a:ext cx="3794760" cy="31089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123A63"/>
                </a:solidFill>
                <a:latin typeface="微软雅黑"/>
                <a:ea typeface="微软雅黑"/>
              </a:rPr>
              <a:t>客观贝叶斯方法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737360"/>
            <a:ext cx="3794760" cy="310896"/>
          </a:xfrm>
          <a:prstGeom prst="roundRect">
            <a:avLst>
              <a:gd name="adj" fmla="val 50000"/>
            </a:avLst>
          </a:prstGeom>
          <a:solidFill>
            <a:srgbClr val="E8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1737360"/>
            <a:ext cx="3794760" cy="31089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123A63"/>
                </a:solidFill>
                <a:latin typeface="微软雅黑"/>
                <a:ea typeface="微软雅黑"/>
              </a:rPr>
              <a:t>寿命数据分析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9080" y="2212848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69080" y="2267712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123A63"/>
                </a:solidFill>
                <a:latin typeface="微软雅黑"/>
                <a:ea typeface="微软雅黑"/>
              </a:rPr>
              <a:t>60+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688336"/>
            <a:ext cx="1874519" cy="32918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5B6B7C"/>
                </a:solidFill>
                <a:latin typeface="微软雅黑"/>
                <a:ea typeface="微软雅黑"/>
              </a:rPr>
              <a:t>一作 / 通讯 SCI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2212848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2267712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123A63"/>
                </a:solidFill>
                <a:latin typeface="微软雅黑"/>
                <a:ea typeface="微软雅黑"/>
              </a:rPr>
              <a:t>2,478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688336"/>
            <a:ext cx="1874519" cy="32918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5B6B7C"/>
                </a:solidFill>
                <a:latin typeface="微软雅黑"/>
                <a:ea typeface="微软雅黑"/>
              </a:rPr>
              <a:t>Scholar 引用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2212848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67712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123A63"/>
                </a:solidFill>
                <a:latin typeface="微软雅黑"/>
                <a:ea typeface="微软雅黑"/>
              </a:rPr>
              <a:t>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688336"/>
            <a:ext cx="1874519" cy="32918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5B6B7C"/>
                </a:solidFill>
                <a:latin typeface="微软雅黑"/>
                <a:ea typeface="微软雅黑"/>
              </a:rPr>
              <a:t>h 指数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212848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2267712"/>
            <a:ext cx="1874519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123A63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688336"/>
            <a:ext cx="1874519" cy="32918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5B6B7C"/>
                </a:solidFill>
                <a:latin typeface="微软雅黑"/>
                <a:ea typeface="微软雅黑"/>
              </a:rPr>
              <a:t>ESI 高被引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69080" y="3291840"/>
            <a:ext cx="384048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69080" y="3291840"/>
            <a:ext cx="64008" cy="3035808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401568"/>
            <a:ext cx="342900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3A7CA5"/>
                </a:solidFill>
                <a:latin typeface="微软雅黑"/>
                <a:ea typeface="微软雅黑"/>
              </a:rPr>
              <a:t>代表性成果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712463"/>
            <a:ext cx="3429000" cy="24688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1">
                <a:solidFill>
                  <a:srgbClr val="0A1F3D"/>
                </a:solidFill>
                <a:latin typeface="微软雅黑"/>
                <a:ea typeface="微软雅黑"/>
              </a:rPr>
              <a:t>专著《随机退化过程与统计建模》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科学出版社，2025；入选统计与数据科学丛书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论文见于 NRL、SJS、JQT、EJOR、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IEEE TR、IISE Transactions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主持国自然青年 1 项、面上 3 项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在研面上项目 72571246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浙江省自然科学基金重点项目等十余项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3291840"/>
            <a:ext cx="365760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291840"/>
            <a:ext cx="64008" cy="3035808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7" y="3401568"/>
            <a:ext cx="32461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3A7CA5"/>
                </a:solidFill>
                <a:latin typeface="微软雅黑"/>
                <a:ea typeface="微软雅黑"/>
              </a:rPr>
              <a:t>奖励与学术服务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3712463"/>
            <a:ext cx="3246120" cy="24688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1">
                <a:solidFill>
                  <a:srgbClr val="0A1F3D"/>
                </a:solidFill>
                <a:latin typeface="微软雅黑"/>
                <a:ea typeface="微软雅黑"/>
              </a:rPr>
              <a:t>浙江省自然科学奖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福建省自然科学奖、全国统计科技进步奖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省高校院士专家结对培养青年英才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省特支计划教育青年人才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中国运筹学会可靠性分会副理事长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Statistical Theory and Related Fields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Associate Editor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01   背景与定位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先看研究背景，再落到我们的定位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02  /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33856"/>
            <a:ext cx="420624" cy="256032"/>
          </a:xfrm>
          <a:prstGeom prst="roundRect">
            <a:avLst>
              <a:gd name="adj" fmla="val 40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33856"/>
            <a:ext cx="420624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133856"/>
            <a:ext cx="274320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A1F3D"/>
                </a:solidFill>
                <a:latin typeface="微软雅黑"/>
                <a:ea typeface="微软雅黑"/>
              </a:rPr>
              <a:t>研究背景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81328"/>
            <a:ext cx="1124712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481328"/>
            <a:ext cx="64008" cy="135331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591056"/>
            <a:ext cx="10789920" cy="11521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22033"/>
                </a:solidFill>
                <a:latin typeface="微软雅黑"/>
                <a:ea typeface="微软雅黑"/>
              </a:rPr>
              <a:t>电子器件、机电系统和航空装备的可靠度持续提高。传统寿命试验在有限工期内往往只能拿到大量删失，很难观测到足够失效。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22033"/>
                </a:solidFill>
                <a:latin typeface="微软雅黑"/>
                <a:ea typeface="微软雅黑"/>
              </a:rPr>
              <a:t>产品在试验或服役中会留下连续的性能轨迹：电流漂移、裂纹扩展、光强衰减、制动转矩下降。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22033"/>
                </a:solidFill>
                <a:latin typeface="微软雅黑"/>
                <a:ea typeface="微软雅黑"/>
              </a:rPr>
              <a:t>退化轨迹比失效时间携带更多过程信息，正在成为高可靠产品评估与预测的主要数据来源。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80944"/>
            <a:ext cx="420624" cy="256032"/>
          </a:xfrm>
          <a:prstGeom prst="roundRect">
            <a:avLst>
              <a:gd name="adj" fmla="val 40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420624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98094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A1F3D"/>
                </a:solidFill>
                <a:latin typeface="微软雅黑"/>
                <a:ea typeface="微软雅黑"/>
              </a:rPr>
              <a:t>由此形成的统计困难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278892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2788920" cy="45720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438144"/>
            <a:ext cx="2514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小样本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3730752"/>
            <a:ext cx="2514600" cy="6217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失效稀少，先验一旦定偏，后验会被先验主导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64992" y="3346704"/>
            <a:ext cx="278892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64992" y="3346704"/>
            <a:ext cx="2788920" cy="45720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3438144"/>
            <a:ext cx="2514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多维相依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3730752"/>
            <a:ext cx="2514600" cy="6217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多个性能指标联合退化，尾部与波动往往相关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3346704"/>
            <a:ext cx="278892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2784" y="3346704"/>
            <a:ext cx="2788920" cy="45720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438144"/>
            <a:ext cx="2514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个体异质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3730752"/>
            <a:ext cx="2514600" cy="6217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随机效应、亚总体、两阶段与双尺度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0576" y="3346704"/>
            <a:ext cx="2788920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80576" y="3346704"/>
            <a:ext cx="2788920" cy="45720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38144"/>
            <a:ext cx="2514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在线流式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30752"/>
            <a:ext cx="2514600" cy="6217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监测陆续到达，不能每次全样本重跑 MCMC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608576"/>
            <a:ext cx="420624" cy="256032"/>
          </a:xfrm>
          <a:prstGeom prst="roundRect">
            <a:avLst>
              <a:gd name="adj" fmla="val 40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08576"/>
            <a:ext cx="420624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4608576"/>
            <a:ext cx="365760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A1F3D"/>
                </a:solidFill>
                <a:latin typeface="微软雅黑"/>
                <a:ea typeface="微软雅黑"/>
              </a:rPr>
              <a:t>因此，研究定位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956048"/>
            <a:ext cx="11247120" cy="1481328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5047488"/>
            <a:ext cx="10881360" cy="5669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用随机过程与贝叶斯方法，从退化监测数据和寿命数据中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评估高可靠产品的可靠性，并给出可递归更新的剩余寿命预测。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687568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退化建模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907024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Wiener / IG / Gamma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47288" y="5687568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在线贝叶斯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5907024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共轭与递归更新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5687568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客观贝叶斯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5907024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小样本寿命评估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5687568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试验与现场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25128" y="5907024"/>
            <a:ext cx="26517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加速试验与数据融合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02   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随机退化过程：让模型贴合轨迹，且便于推断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03  /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Wiener、逆高斯、Gamma 对应不同机理。我们做的不是再造过程族，而是在可识别、可计算的前提下扩展相依、变点、尺度与尾部。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64008" cy="144475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792224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多元相依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121408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二元 / 层次贝叶斯 Wiener；退化速率与波动可以相关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51760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IEEE TR  2018 ·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645920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45920"/>
            <a:ext cx="64008" cy="144475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792224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厚尾相依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121408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多元 Student-t 过程，刻画尾部加权与指标联合退化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651760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IISE Trans.  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18688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18688"/>
            <a:ext cx="64008" cy="1444752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364992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两阶段寿命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694176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重参数化逆高斯加变点，给出两阶段剩余寿命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24528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EJOR  2024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218688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218688"/>
            <a:ext cx="64008" cy="1444752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3364992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双尺度异质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3694176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统一随机效应逆高斯，兼容两套时间尺度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224528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IISE Trans.  Featured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01184"/>
            <a:ext cx="11247120" cy="1517904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029200"/>
            <a:ext cx="1083564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系统整理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5285232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专著《随机退化过程与统计建模》（徐安察、汤银才、庄亮亮，科学出版社，2025）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在研：面向多维偏态厚尾退化数据的可靠性评估与贝叶斯最优设计  ·  国自然面上 72571246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03   推断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贝叶斯在线学习：递归更新，而不是每次重估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04  /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监测数据流式到达。我们利用共轭或可解析的更新，把后验写成递推，使剩余寿命预测可在线进行。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72768"/>
            <a:ext cx="27889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682496"/>
            <a:ext cx="251460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938528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共轭结构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86000"/>
            <a:ext cx="2514600" cy="7498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Gamma / 逆高斯在合适参数化下存在共轭或近似共轭先验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572768"/>
            <a:ext cx="2788920" cy="1627632"/>
          </a:xfrm>
          <a:prstGeom prst="roundRect">
            <a:avLst>
              <a:gd name="adj" fmla="val 6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682496"/>
            <a:ext cx="251460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938528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递归更新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2286000"/>
            <a:ext cx="2514600" cy="7498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新观测进入后，后验超参数闭式或近闭式刷新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72768"/>
            <a:ext cx="2788920" cy="1627632"/>
          </a:xfrm>
          <a:prstGeom prst="roundRect">
            <a:avLst>
              <a:gd name="adj" fmla="val 6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682496"/>
            <a:ext cx="251460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938528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RUL 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286000"/>
            <a:ext cx="2514600" cy="7498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C5D6E6"/>
                </a:solidFill>
                <a:latin typeface="微软雅黑"/>
                <a:ea typeface="微软雅黑"/>
              </a:rPr>
              <a:t>由当前后验直接给出剩余寿命分布，不必重跑全样本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0576" y="1572768"/>
            <a:ext cx="27889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82496"/>
            <a:ext cx="251460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3A7CA5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938528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稳健识别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286000"/>
            <a:ext cx="2514600" cy="7498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异常点下的隐状态识别，避免一次离群拉偏轨迹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83280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511296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递归贝叶斯 RUL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22192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Gamma 过程加共轭先验，剩余寿命可递推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261104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Scand. J. Statist. 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383280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3511296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逆高斯在线估计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3822192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高效在线估计与 RUL，避免全样本重估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261104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Naval Res. Logist.  2025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28032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956048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预后驱动维修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266944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贝叶斯深度学习把 RUL 接到预测性维修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05856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RESS  2023  ·  ESI 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4828032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956048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联邦学习 RUL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266944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数据不出域的航空发动机剩余寿命预测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5705856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Appl. Soft Comput.  2025  ·  ESI 高被引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3A7CA5"/>
                </a:solidFill>
                <a:latin typeface="微软雅黑"/>
                <a:ea typeface="微软雅黑"/>
              </a:rPr>
              <a:t>04   评估与展望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小样本评估，以及希望和专家讨论的问题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05  /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33856"/>
            <a:ext cx="3675887" cy="54864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客观贝叶斯与小样本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参考先验、无信息先验与后验正常性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屏蔽数据、竞争失效、加速寿命与加速退化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Birnbaum–Saunders、Weibull 等寿命模型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代表工作见于 IEEE TR、CSDA、JSPI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133856"/>
            <a:ext cx="3675887" cy="54864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接到真实系统上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永磁制动器小样本贝叶斯评估（IEEE TR）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华为：Weibull 核心算法、隐患预警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动态环境下的系统可靠性与竞争失效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加速试验与现场数据联合建模（STARF）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133856"/>
            <a:ext cx="3675887" cy="54864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希望讨论的开放问题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多维偏态厚尾退化的可识别参数化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在线更新下的校准：覆盖率能否守住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试验信息外推到现场时，偏差如何分解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贝叶斯最优设计如何同时服务评估与预测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56048"/>
            <a:ext cx="11247120" cy="1481328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5120640"/>
            <a:ext cx="7680960" cy="10972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后面的工作会沿着偏态厚尾建模、在线校准和试验—现场融合继续做。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欢迎批评，也欢迎在具体数据或问题上合作。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75504"/>
            <a:ext cx="2971800" cy="10515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3A7CA5"/>
                </a:solidFill>
                <a:latin typeface="微软雅黑"/>
                <a:ea typeface="微软雅黑"/>
              </a:rPr>
              <a:t>欢迎批评与合作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xuancha@mail.zjgsu.edu.cn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www.xu-ancha.com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