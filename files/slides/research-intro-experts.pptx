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30 秒。先报身份，再读中间那句研究定位，不要报奖项和论文篇数。四块只点名：退化建模、在线贝叶斯、客观贝叶斯、试验与现场。若专家是可靠性同行，可补一句：我们关心的不是再造一个过程，而是让过程可推断、可在线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只讲问题，不报论文。先说高可靠导致寿命试验失效太少，再强调退化轨迹是连续信息。四个约束各举半句现场例子即可：永磁制动器是小样本，重型机床是多指标，激光器常有个体差异，航空发动机是流式监测。右边四层从上往下讲一遍，收在：我们后面三页分别对应过程、推断、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专家若问“和经典过程有何不同”，答：机理仍用 Wiener / IG / Gamma，扩展集中在相依结构、变点、双尺度和尾部，并且重参数化是为了推断稳定。点两篇即可：Student-t（IISE）说明厚尾多指标，两阶段 rIG（EJOR）说明变点 RUL。专著放最后一句，作为这条线的收口，不要展开目录。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这页的关键句：我们要的是可递归的后验，不是更快的 MCMC。中间四个格子从左到右讲一遍。代表工作点 SJS 的 Gamma 共轭和 NRL 的 IG 在线估计。RESS 和联邦学习是应用出口，专家若偏统计可少讲，若偏工业可多讲航空发动机。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留给讨论。前两列各举一例：客观贝叶斯用屏蔽数据或加速试验；应用用永磁制动器或华为。开放问题按听者背景选一两个：理论专家谈偏态厚尾可识别性，应用专家谈现场外推的校准。底部数字只报一句，不要念完。最后停在“欢迎批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A8452B"/>
                </a:solidFill>
                <a:latin typeface="微软雅黑"/>
                <a:ea typeface="微软雅黑"/>
              </a:rPr>
              <a:t>研究工作简介  ·  同行专家交流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3716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1B365D"/>
                </a:solidFill>
                <a:latin typeface="微软雅黑"/>
                <a:ea typeface="微软雅黑"/>
              </a:rPr>
              <a:t>随机退化过程与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1B365D"/>
                </a:solidFill>
                <a:latin typeface="微软雅黑"/>
                <a:ea typeface="微软雅黑"/>
              </a:rPr>
              <a:t>贝叶斯可靠性推断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280160" cy="45720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789920" cy="8229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1C1C1C"/>
                </a:solidFill>
                <a:latin typeface="微软雅黑"/>
                <a:ea typeface="微软雅黑"/>
              </a:rPr>
              <a:t>用随机过程与贝叶斯方法，从退化监测数据和寿命数据中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1C1C1C"/>
                </a:solidFill>
                <a:latin typeface="微软雅黑"/>
                <a:ea typeface="微软雅黑"/>
              </a:rPr>
              <a:t>评估高可靠产品的可靠性，并给出可递归更新的剩余寿命预测。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2606040" cy="169164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04488"/>
            <a:ext cx="2350008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160520"/>
            <a:ext cx="2350008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退化建模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544568"/>
            <a:ext cx="2350008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A646E"/>
                </a:solidFill>
                <a:latin typeface="微软雅黑"/>
                <a:ea typeface="微软雅黑"/>
              </a:rPr>
              <a:t>Wiener / IG / Gamma
多元 · 两阶段 · 厚尾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3794760"/>
            <a:ext cx="2606040" cy="169164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3904488"/>
            <a:ext cx="2350008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4160520"/>
            <a:ext cx="2350008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在线贝叶斯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4544568"/>
            <a:ext cx="2350008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A646E"/>
                </a:solidFill>
                <a:latin typeface="微软雅黑"/>
                <a:ea typeface="微软雅黑"/>
              </a:rPr>
              <a:t>共轭结构与递归更新
RUL 与隐状态识别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3794760"/>
            <a:ext cx="2606040" cy="169164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904488"/>
            <a:ext cx="2350008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4160520"/>
            <a:ext cx="2350008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客观贝叶斯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544568"/>
            <a:ext cx="2350008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A646E"/>
                </a:solidFill>
                <a:latin typeface="微软雅黑"/>
                <a:ea typeface="微软雅黑"/>
              </a:rPr>
              <a:t>参考先验与后验正常性
小样本寿命评估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3794760"/>
            <a:ext cx="2606040" cy="169164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904488"/>
            <a:ext cx="2350008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4160520"/>
            <a:ext cx="2350008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试验与现场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544568"/>
            <a:ext cx="2350008" cy="7772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A646E"/>
                </a:solidFill>
                <a:latin typeface="微软雅黑"/>
                <a:ea typeface="微软雅黑"/>
              </a:rPr>
              <a:t>加速试验最优设计
竞争失效与数据融合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徐安察  ·  教授、博士生导师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A646E"/>
                </a:solidFill>
                <a:latin typeface="微软雅黑"/>
                <a:ea typeface="微软雅黑"/>
              </a:rPr>
              <a:t>浙江工商大学 统计与数据科学学院    xuancha@mail.zjgsu.edu.cn    www.xu-ancha.com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01  / 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47120" cy="42062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B365D"/>
                </a:solidFill>
                <a:latin typeface="微软雅黑"/>
                <a:ea typeface="微软雅黑"/>
              </a:rPr>
              <a:t>为什么做退化，而不是只看失效时间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1148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2  /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5532120" cy="525780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280160"/>
            <a:ext cx="5120640" cy="2926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452B"/>
                </a:solidFill>
                <a:latin typeface="微软雅黑"/>
                <a:ea typeface="微软雅黑"/>
              </a:rPr>
              <a:t>工程事实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91056"/>
            <a:ext cx="5120640" cy="1417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高可靠产品在试验期内很少失效。寿命试验给出的多为删失，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信息量不足。电流漂移、裂纹扩展、光强衰减、制动转矩等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退化轨迹是连续观测，比失效时间携带更多过程信息。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12064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452B"/>
                </a:solidFill>
                <a:latin typeface="微软雅黑"/>
                <a:ea typeface="微软雅黑"/>
              </a:rPr>
              <a:t>统计上要同时处理的四个约束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56432"/>
            <a:ext cx="5120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456432"/>
            <a:ext cx="73152" cy="585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493008"/>
            <a:ext cx="4754880" cy="23774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B365D"/>
                </a:solidFill>
                <a:latin typeface="微软雅黑"/>
                <a:ea typeface="微软雅黑"/>
              </a:rPr>
              <a:t>小样本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730752"/>
            <a:ext cx="475488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失效稀少，先验一旦定偏，后验会被先验主导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14800"/>
            <a:ext cx="5120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114800"/>
            <a:ext cx="73152" cy="585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151376"/>
            <a:ext cx="4754880" cy="23774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B365D"/>
                </a:solidFill>
                <a:latin typeface="微软雅黑"/>
                <a:ea typeface="微软雅黑"/>
              </a:rPr>
              <a:t>多维相依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389120"/>
            <a:ext cx="475488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多个性能指标联合退化，尾部与波动往往相关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773168"/>
            <a:ext cx="5120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773168"/>
            <a:ext cx="73152" cy="585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809744"/>
            <a:ext cx="4754880" cy="23774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B365D"/>
                </a:solidFill>
                <a:latin typeface="微软雅黑"/>
                <a:ea typeface="微软雅黑"/>
              </a:rPr>
              <a:t>个体异质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047488"/>
            <a:ext cx="475488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随机效应、亚总体、两阶段 / 双尺度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431536"/>
            <a:ext cx="5120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431536"/>
            <a:ext cx="73152" cy="585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468112"/>
            <a:ext cx="4754880" cy="23774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B365D"/>
                </a:solidFill>
                <a:latin typeface="微软雅黑"/>
                <a:ea typeface="微软雅黑"/>
              </a:rPr>
              <a:t>在线流式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705856"/>
            <a:ext cx="475488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监测陆续到达，不能每次全样本重跑 MCMC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143000"/>
            <a:ext cx="5394960" cy="292608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452B"/>
                </a:solidFill>
                <a:latin typeface="微软雅黑"/>
                <a:ea typeface="微软雅黑"/>
              </a:rPr>
              <a:t>研究框架：一层对应一个约束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536192"/>
            <a:ext cx="5440680" cy="93268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664208"/>
            <a:ext cx="502920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1975104"/>
            <a:ext cx="50292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退化轨迹  ·  寿命 / 删失  ·  加速试验  ·  现场服役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615184"/>
            <a:ext cx="5440680" cy="932688"/>
          </a:xfrm>
          <a:prstGeom prst="rect">
            <a:avLst/>
          </a:prstGeom>
          <a:solidFill>
            <a:srgbClr val="2F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743200"/>
            <a:ext cx="502920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过程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054096"/>
            <a:ext cx="50292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Wiener / 逆高斯 / Gamma，及其多元、变点、厚尾扩展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694176"/>
            <a:ext cx="5440680" cy="93268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3822192"/>
            <a:ext cx="502920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推断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3952" y="4133088"/>
            <a:ext cx="50292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客观先验、共轭与递归更新、近似贝叶斯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4773168"/>
            <a:ext cx="5440680" cy="932688"/>
          </a:xfrm>
          <a:prstGeom prst="rect">
            <a:avLst/>
          </a:prstGeom>
          <a:solidFill>
            <a:srgbClr val="2F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4901184"/>
            <a:ext cx="502920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决策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3952" y="5212080"/>
            <a:ext cx="502920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可靠性评估  ·  RUL  ·  预测性维修  ·  试验设计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02  /  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47120" cy="42062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B365D"/>
                </a:solidFill>
                <a:latin typeface="微软雅黑"/>
                <a:ea typeface="微软雅黑"/>
              </a:rPr>
              <a:t>随机退化过程：让模型贴合轨迹，且便于推断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1148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3  /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微软雅黑"/>
                <a:ea typeface="微软雅黑"/>
              </a:rPr>
              <a:t>Wiener、逆高斯、Gamma 对应不同机理。我们做的不是再造过程族，而是在可识别、可计算的前提下扩展相依、变点、尺度与尾部。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669280" cy="155448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73152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83664"/>
            <a:ext cx="5212080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B365D"/>
                </a:solidFill>
                <a:latin typeface="微软雅黑"/>
                <a:ea typeface="微软雅黑"/>
              </a:rPr>
              <a:t>多元相依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49424"/>
            <a:ext cx="5212080" cy="548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二元 / 层次贝叶斯 Wiener；退化速率与波动可以相关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852928"/>
            <a:ext cx="521208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IEEE TR 2018,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669280" cy="155448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37360"/>
            <a:ext cx="73152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883664"/>
            <a:ext cx="5212080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B365D"/>
                </a:solidFill>
                <a:latin typeface="微软雅黑"/>
                <a:ea typeface="微软雅黑"/>
              </a:rPr>
              <a:t>厚尾相依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249424"/>
            <a:ext cx="5212080" cy="548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多元 Student-t 过程，刻画尾部加权、指标联合退化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852928"/>
            <a:ext cx="521208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IISE Trans.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29000"/>
            <a:ext cx="5669280" cy="155448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29000"/>
            <a:ext cx="73152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575304"/>
            <a:ext cx="5212080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B365D"/>
                </a:solidFill>
                <a:latin typeface="微软雅黑"/>
                <a:ea typeface="微软雅黑"/>
              </a:rPr>
              <a:t>两阶段寿命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941064"/>
            <a:ext cx="5212080" cy="548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重参数化逆高斯 + 变点，给出两阶段 RUL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44568"/>
            <a:ext cx="521208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EJOR 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429000"/>
            <a:ext cx="5669280" cy="1554480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429000"/>
            <a:ext cx="73152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3575304"/>
            <a:ext cx="5212080" cy="31089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B365D"/>
                </a:solidFill>
                <a:latin typeface="微软雅黑"/>
                <a:ea typeface="微软雅黑"/>
              </a:rPr>
              <a:t>双尺度异质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3941064"/>
            <a:ext cx="5212080" cy="54864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C1C1C"/>
                </a:solidFill>
                <a:latin typeface="微软雅黑"/>
                <a:ea typeface="微软雅黑"/>
              </a:rPr>
              <a:t>统一随机效应逆高斯，兼容两套时间尺度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544568"/>
            <a:ext cx="521208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IISE Trans. 2026+  Featured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12080"/>
            <a:ext cx="11247120" cy="118872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340096"/>
            <a:ext cx="1088136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系统整理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614416"/>
            <a:ext cx="10881360" cy="62179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</a:rPr>
              <a:t>专著《随机退化过程与统计建模》（徐安察、汤银才、庄亮亮，科学出版社，2025；入选统计与数据科学丛书）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D7DEE7"/>
                </a:solidFill>
                <a:latin typeface="微软雅黑"/>
                <a:ea typeface="微软雅黑"/>
              </a:rPr>
              <a:t>在研：面向多维偏态厚尾退化数据的可靠性评估与贝叶斯最优设计  ·  国家自然科学基金面上项目 72571246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03  /  推断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47120" cy="42062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B365D"/>
                </a:solidFill>
                <a:latin typeface="微软雅黑"/>
                <a:ea typeface="微软雅黑"/>
              </a:rPr>
              <a:t>贝叶斯在线学习：递归更新，而不是每次重估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1148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4  /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C1C1C"/>
                </a:solidFill>
                <a:latin typeface="微软雅黑"/>
                <a:ea typeface="微软雅黑"/>
              </a:rPr>
              <a:t>监测数据流式到达。我们利用共轭或可解析的更新，把后验写成递推，使剩余寿命预测可在线进行。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788920" cy="1554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810512"/>
            <a:ext cx="2514600" cy="21945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066543"/>
            <a:ext cx="251460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共轭结构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450592"/>
            <a:ext cx="25146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Gamma / 逆高斯在合适参数化下存在共轭或近似共轭先验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691640"/>
            <a:ext cx="2788920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9584" y="1810512"/>
            <a:ext cx="2514600" cy="21945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0C4B0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066543"/>
            <a:ext cx="251460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递归更新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2450592"/>
            <a:ext cx="25146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新观测进入后，后验超参数闭式或近闭式刷新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691640"/>
            <a:ext cx="2788920" cy="155448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810512"/>
            <a:ext cx="2514600" cy="21945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0C4B0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066543"/>
            <a:ext cx="251460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RUL 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450592"/>
            <a:ext cx="25146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由当前后验直接给出剩余寿命分布，不必重跑全样本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691640"/>
            <a:ext cx="2788920" cy="1554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810512"/>
            <a:ext cx="2514600" cy="219456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66543"/>
            <a:ext cx="2514600" cy="32918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稳健 / 隐状态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50592"/>
            <a:ext cx="2514600" cy="640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异常点下的状态识别，避免一次离群拉偏整条轨迹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5669280" cy="1243584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584448"/>
            <a:ext cx="530352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B365D"/>
                </a:solidFill>
                <a:latin typeface="微软雅黑"/>
                <a:ea typeface="微软雅黑"/>
              </a:rPr>
              <a:t>递归贝叶斯 RUL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95344"/>
            <a:ext cx="53035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Gamma 过程 + 共轭先验，剩余寿命可递推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315968"/>
            <a:ext cx="53035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Scand. J. Statist. 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474720"/>
            <a:ext cx="5669280" cy="1243584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3584448"/>
            <a:ext cx="530352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B365D"/>
                </a:solidFill>
                <a:latin typeface="微软雅黑"/>
                <a:ea typeface="微软雅黑"/>
              </a:rPr>
              <a:t>逆高斯在线估计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3895344"/>
            <a:ext cx="53035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高效在线估计与 RUL，避免全样本重估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15968"/>
            <a:ext cx="53035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Naval Res. Logist. 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46320"/>
            <a:ext cx="5669280" cy="1243584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956048"/>
            <a:ext cx="530352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B365D"/>
                </a:solidFill>
                <a:latin typeface="微软雅黑"/>
                <a:ea typeface="微软雅黑"/>
              </a:rPr>
              <a:t>预后驱动维修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266944"/>
            <a:ext cx="53035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贝叶斯深度学习把 RUL 接到预测性维修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687568"/>
            <a:ext cx="53035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RESS 2023  ·  ESI 热点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846320"/>
            <a:ext cx="5669280" cy="1243584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956048"/>
            <a:ext cx="5303520" cy="2743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B365D"/>
                </a:solidFill>
                <a:latin typeface="微软雅黑"/>
                <a:ea typeface="微软雅黑"/>
              </a:rPr>
              <a:t>联邦学习 RUL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266944"/>
            <a:ext cx="5303520" cy="3657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数据不出域的航空发动机剩余寿命预测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5687568"/>
            <a:ext cx="53035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A646E"/>
                </a:solidFill>
                <a:latin typeface="微软雅黑"/>
                <a:ea typeface="微软雅黑"/>
              </a:rPr>
              <a:t>Appl. Soft Comput. 2025  ·  ESI 高被引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452B"/>
                </a:solidFill>
                <a:latin typeface="微软雅黑"/>
                <a:ea typeface="微软雅黑"/>
              </a:rPr>
              <a:t>04  /  评估与展望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47120" cy="420624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B365D"/>
                </a:solidFill>
                <a:latin typeface="微软雅黑"/>
                <a:ea typeface="微软雅黑"/>
              </a:rPr>
              <a:t>小样本评估，以及希望和专家讨论的问题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1148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徐安察  ·  随机退化过程与贝叶斯可靠性推断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656832"/>
            <a:ext cx="1280160" cy="201168"/>
          </a:xfrm>
          <a:prstGeom prst="rect">
            <a:avLst/>
          </a:prstGeom>
          <a:noFill/>
        </p:spPr>
        <p:txBody>
          <a:bodyPr wrap="square" lIns="54864" rIns="54864" tIns="18288" bIns="18288" anchor="ctr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5  /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3730752" cy="3977639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3730752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53312"/>
            <a:ext cx="3401568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客观贝叶斯与小样本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65960"/>
            <a:ext cx="3401568" cy="2926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参考先验、无信息先验与后验正常性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屏蔽数据、竞争失效、加速寿命 / 加速退化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Birnbaum–Saunders、Weibull 等寿命模型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代表：IEEE TR、CSDA、JSPI；浙江省自然科学奖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3730752" cy="3977639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143000"/>
            <a:ext cx="3730752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353312"/>
            <a:ext cx="3401568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接到真实系统上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965960"/>
            <a:ext cx="3401568" cy="2926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永磁制动器小样本贝叶斯评估（IEEE TR）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华为：Weibull 核心算法、隐患预警、小子样分析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动态环境下的系统可靠性与竞争失效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加速试验与现场数据联合建模（STARF）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43000"/>
            <a:ext cx="3730752" cy="3977639"/>
          </a:xfrm>
          <a:prstGeom prst="rect">
            <a:avLst/>
          </a:prstGeom>
          <a:solidFill>
            <a:srgbClr val="F2F4F7"/>
          </a:solidFill>
          <a:ln w="635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730752" cy="73152"/>
          </a:xfrm>
          <a:prstGeom prst="rect">
            <a:avLst/>
          </a:prstGeom>
          <a:solidFill>
            <a:srgbClr val="A8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1353312"/>
            <a:ext cx="3401568" cy="50292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B365D"/>
                </a:solidFill>
                <a:latin typeface="微软雅黑"/>
                <a:ea typeface="微软雅黑"/>
              </a:rPr>
              <a:t>希望讨论的开放问题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65960"/>
            <a:ext cx="3401568" cy="29260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多维偏态厚尾退化的可识别参数化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在线更新下的校准：覆盖率能否守住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试验信息外推到现场时，偏差如何分解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微软雅黑"/>
                <a:ea typeface="微软雅黑"/>
              </a:rPr>
              <a:t>·  贝叶斯最优设计如何同时服务评估与预测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57800"/>
            <a:ext cx="11247120" cy="1143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394960"/>
            <a:ext cx="7863840" cy="86868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一作 / 通讯 SCI 60 余篇，ESI 高被引 6 篇。主持国自然青年 1 项、面上 3 项，以及浙江省自然科学基金重点项目。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D7DEE7"/>
                </a:solidFill>
                <a:latin typeface="微软雅黑"/>
                <a:ea typeface="微软雅黑"/>
              </a:rPr>
              <a:t>中国运筹学会可靠性分会副理事长  ·  Statistical Theory and Related Fields 副主编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440680"/>
            <a:ext cx="2926080" cy="822960"/>
          </a:xfrm>
          <a:prstGeom prst="rect">
            <a:avLst/>
          </a:prstGeom>
          <a:noFill/>
        </p:spPr>
        <p:txBody>
          <a:bodyPr wrap="square" lIns="54864" rIns="54864" tIns="18288" bIns="18288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0C4B0"/>
                </a:solidFill>
                <a:latin typeface="微软雅黑"/>
                <a:ea typeface="微软雅黑"/>
              </a:rPr>
              <a:t>欢迎批评与合作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xuancha@mail.zjgsu.edu.cn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www.xu-ancha.com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