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1 分钟。先报姓名、单位、职称，再报四个研究方向。业绩只点三句：六十余篇一作通讯、一本专著、国自然青年加三项面上。奖项和服务各报一项即可：省自然科学奖、可靠性分会副理事长。不要把格子念完。下一页再讲为什么做这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按三步讲，不要倒过来先报定位。第一步研究背景：高可靠导致寿命试验失效太少，退化轨迹成为主要信息。第二步四个困难各举半句现场例子：永磁制动器是小样本，重型机床是多指标，激光器常有个体差异，航空发动机是流式监测。第三步才读出定位那两句，并点名四条主线。后面三页分别展开过程、推断、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专家若问“和经典过程有何不同”，答：机理仍用 Wiener / IG / Gamma，扩展集中在相依结构、变点、双尺度和尾部，并且重参数化是为了推断稳定。点两篇即可：Student-t（IISE）说明厚尾多指标，两阶段 rIG（EJOR）说明变点 RUL。专著放最后一句，作为这条线的收口，不要展开目录。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这页的关键句：我们要的是可递归的后验，不是更快的 MCMC。中间四个格子从左到右讲一遍。代表工作点 SJS 的 Gamma 共轭和 NRL 的 IG 在线估计。RESS 和联邦学习是应用出口，专家若偏统计可少讲，若偏工业可多讲航空发动机。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这页留给讨论。前两列各举一例：客观贝叶斯用屏蔽数据或加速试验；应用用永磁制动器或华为。开放问题按听者背景选一两个：理论专家谈偏态厚尾可识别性，应用专家谈现场外推的校准。业绩已在第 1 页说过，这里不要再报数字。最后停在欢迎批评。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search-intro-portra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65760"/>
            <a:ext cx="2423160" cy="3063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3566160"/>
            <a:ext cx="2606040" cy="45720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徐安察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4041648"/>
            <a:ext cx="2743200" cy="12344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0C4B0"/>
                </a:solidFill>
                <a:latin typeface="微软雅黑"/>
                <a:ea typeface="微软雅黑"/>
              </a:rPr>
              <a:t>教授、博士生导师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D7DEE7"/>
                </a:solidFill>
                <a:latin typeface="微软雅黑"/>
                <a:ea typeface="微软雅黑"/>
              </a:rPr>
              <a:t>浙江工商大学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D7DEE7"/>
                </a:solidFill>
                <a:latin typeface="微软雅黑"/>
                <a:ea typeface="微软雅黑"/>
              </a:rPr>
              <a:t>统计与数据科学学院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B8C3D0"/>
                </a:solidFill>
                <a:latin typeface="微软雅黑"/>
                <a:ea typeface="微软雅黑"/>
              </a:rPr>
              <a:t>xuancha@mail.zjgsu.edu.cn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B8C3D0"/>
                </a:solidFill>
                <a:latin typeface="微软雅黑"/>
                <a:ea typeface="微软雅黑"/>
              </a:rPr>
              <a:t>www.xu-ancha.com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256032"/>
            <a:ext cx="8229600" cy="237744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452B"/>
                </a:solidFill>
                <a:latin typeface="微软雅黑"/>
                <a:ea typeface="微软雅黑"/>
              </a:rPr>
              <a:t>研究工作简介  ·  同行专家交流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493776"/>
            <a:ext cx="8229600" cy="43891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B365D"/>
                </a:solidFill>
                <a:latin typeface="微软雅黑"/>
                <a:ea typeface="微软雅黑"/>
              </a:rPr>
              <a:t>个人研究与业绩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969264"/>
            <a:ext cx="1051560" cy="36576"/>
          </a:xfrm>
          <a:prstGeom prst="rect">
            <a:avLst/>
          </a:prstGeom>
          <a:solidFill>
            <a:srgbClr val="A8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115568"/>
            <a:ext cx="8229600" cy="219456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452B"/>
                </a:solidFill>
                <a:latin typeface="微软雅黑"/>
                <a:ea typeface="微软雅黑"/>
              </a:rPr>
              <a:t>研究方向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335024"/>
            <a:ext cx="8229600" cy="6400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C1C1C"/>
                </a:solidFill>
                <a:latin typeface="微软雅黑"/>
                <a:ea typeface="微软雅黑"/>
              </a:rPr>
              <a:t>退化数据分析与建模  ·  贝叶斯在线学习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C1C1C"/>
                </a:solidFill>
                <a:latin typeface="微软雅黑"/>
                <a:ea typeface="微软雅黑"/>
              </a:rPr>
              <a:t>客观贝叶斯方法  ·  寿命数据分析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084831"/>
            <a:ext cx="1975104" cy="96012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39696"/>
            <a:ext cx="1975104" cy="43891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1B365D"/>
                </a:solidFill>
                <a:latin typeface="微软雅黑"/>
                <a:ea typeface="微软雅黑"/>
              </a:rPr>
              <a:t>60+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578608"/>
            <a:ext cx="1975104" cy="3657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A646E"/>
                </a:solidFill>
                <a:latin typeface="微软雅黑"/>
                <a:ea typeface="微软雅黑"/>
              </a:rPr>
              <a:t>一作 / 通讯 SCI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05271" y="2084831"/>
            <a:ext cx="1975104" cy="96012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05271" y="2139696"/>
            <a:ext cx="1975104" cy="43891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1B365D"/>
                </a:solidFill>
                <a:latin typeface="微软雅黑"/>
                <a:ea typeface="微软雅黑"/>
              </a:rPr>
              <a:t>2,478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5271" y="2578608"/>
            <a:ext cx="1975104" cy="3657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A646E"/>
                </a:solidFill>
                <a:latin typeface="微软雅黑"/>
                <a:ea typeface="微软雅黑"/>
              </a:rPr>
              <a:t>Google Scholar 引用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90102" y="2084831"/>
            <a:ext cx="1975104" cy="96012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0102" y="2139696"/>
            <a:ext cx="1975104" cy="43891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1B365D"/>
                </a:solidFill>
                <a:latin typeface="微软雅黑"/>
                <a:ea typeface="微软雅黑"/>
              </a:rPr>
              <a:t>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0102" y="2578608"/>
            <a:ext cx="1975104" cy="3657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A646E"/>
                </a:solidFill>
                <a:latin typeface="微软雅黑"/>
                <a:ea typeface="微软雅黑"/>
              </a:rPr>
              <a:t>h 指数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74933" y="2084831"/>
            <a:ext cx="1975104" cy="96012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4933" y="2139696"/>
            <a:ext cx="1975104" cy="43891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1B365D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4933" y="2578608"/>
            <a:ext cx="1975104" cy="3657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A646E"/>
                </a:solidFill>
                <a:latin typeface="微软雅黑"/>
                <a:ea typeface="微软雅黑"/>
              </a:rPr>
              <a:t>ESI 高被引论文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3200400"/>
            <a:ext cx="4023360" cy="320040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3310128"/>
            <a:ext cx="370332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A8452B"/>
                </a:solidFill>
                <a:latin typeface="微软雅黑"/>
                <a:ea typeface="微软雅黑"/>
              </a:rPr>
              <a:t>代表性成果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3621024"/>
            <a:ext cx="3703320" cy="26517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1B365D"/>
                </a:solidFill>
                <a:latin typeface="微软雅黑"/>
                <a:ea typeface="微软雅黑"/>
              </a:rPr>
              <a:t>专著《随机退化过程与统计建模》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5A646E"/>
                </a:solidFill>
                <a:latin typeface="微软雅黑"/>
                <a:ea typeface="微软雅黑"/>
              </a:rPr>
              <a:t>科学出版社，2025；入选统计与数据科学丛书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论文见于 NRL、SJS、JQT、EJOR、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IEEE TR、IISE Transactions 等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主持国自然青年 1 项、面上 3 项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5A646E"/>
                </a:solidFill>
                <a:latin typeface="微软雅黑"/>
                <a:ea typeface="微软雅黑"/>
              </a:rPr>
              <a:t>在研面上项目 72571246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浙江省自然科学基金重点项目等十余项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3200400"/>
            <a:ext cx="4023360" cy="320040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3310128"/>
            <a:ext cx="370332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A8452B"/>
                </a:solidFill>
                <a:latin typeface="微软雅黑"/>
                <a:ea typeface="微软雅黑"/>
              </a:rPr>
              <a:t>奖励与学术服务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621024"/>
            <a:ext cx="3703320" cy="26517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1B365D"/>
                </a:solidFill>
                <a:latin typeface="微软雅黑"/>
                <a:ea typeface="微软雅黑"/>
              </a:rPr>
              <a:t>浙江省自然科学奖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5A646E"/>
                </a:solidFill>
                <a:latin typeface="微软雅黑"/>
                <a:ea typeface="微软雅黑"/>
              </a:rPr>
              <a:t>福建省自然科学奖、全国统计科技进步奖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省高校院士专家结对培养青年英才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5A646E"/>
                </a:solidFill>
                <a:latin typeface="微软雅黑"/>
                <a:ea typeface="微软雅黑"/>
              </a:rPr>
              <a:t>省特支计划教育青年人才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中国运筹学会可靠性分会副理事长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Statistical Theory and Related Fields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6E"/>
                </a:solidFill>
                <a:latin typeface="微软雅黑"/>
                <a:ea typeface="微软雅黑"/>
              </a:rPr>
              <a:t>Associate Editor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452B"/>
                </a:solidFill>
                <a:latin typeface="微软雅黑"/>
                <a:ea typeface="微软雅黑"/>
              </a:rPr>
              <a:t>01  /  背景与定位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420624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B365D"/>
                </a:solidFill>
                <a:latin typeface="微软雅黑"/>
                <a:ea typeface="微软雅黑"/>
              </a:rPr>
              <a:t>先看研究背景，再落到我们的定位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1148"/>
          </a:xfrm>
          <a:prstGeom prst="rect">
            <a:avLst/>
          </a:prstGeom>
          <a:solidFill>
            <a:srgbClr val="A8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徐安察  ·  随机退化过程与贝叶斯可靠性推断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2  / 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11247120" cy="237744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8452B"/>
                </a:solidFill>
                <a:latin typeface="微软雅黑"/>
                <a:ea typeface="微软雅黑"/>
              </a:rPr>
              <a:t>研究背景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53312"/>
            <a:ext cx="11247120" cy="141732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10927080" cy="120700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1C1C"/>
                </a:solidFill>
                <a:latin typeface="微软雅黑"/>
                <a:ea typeface="微软雅黑"/>
              </a:rPr>
              <a:t>电子器件、机电系统和航空装备的可靠度持续提高。传统寿命试验在有限工期内往往只能拿到大量删失，很难观测到足够失效。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C1C1C"/>
                </a:solidFill>
                <a:latin typeface="微软雅黑"/>
                <a:ea typeface="微软雅黑"/>
              </a:rPr>
              <a:t>与此同时，产品在试验或服役中会留下连续的性能轨迹：电流漂移、裂纹扩展、光强衰减、制动转矩下降。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微软雅黑"/>
                <a:ea typeface="微软雅黑"/>
              </a:rPr>
              <a:t>退化轨迹比失效时间携带更多过程信息，正在成为高可靠产品评估与预测的主要数据来源。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9504"/>
            <a:ext cx="11247120" cy="237744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8452B"/>
                </a:solidFill>
                <a:latin typeface="微软雅黑"/>
                <a:ea typeface="微软雅黑"/>
              </a:rPr>
              <a:t>由此形成的统计困难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63824"/>
            <a:ext cx="27889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63824"/>
            <a:ext cx="73152" cy="11704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2487168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B365D"/>
                </a:solidFill>
                <a:latin typeface="微软雅黑"/>
                <a:ea typeface="微软雅黑"/>
              </a:rPr>
              <a:t>小样本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47872"/>
            <a:ext cx="2487168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6E"/>
                </a:solidFill>
                <a:latin typeface="微软雅黑"/>
                <a:ea typeface="微软雅黑"/>
              </a:rPr>
              <a:t>失效稀少，先验一旦定偏，后验会被先验主导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163824"/>
            <a:ext cx="27889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3163824"/>
            <a:ext cx="73152" cy="11704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3255264"/>
            <a:ext cx="2487168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B365D"/>
                </a:solidFill>
                <a:latin typeface="微软雅黑"/>
                <a:ea typeface="微软雅黑"/>
              </a:rPr>
              <a:t>多维相依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547872"/>
            <a:ext cx="2487168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6E"/>
                </a:solidFill>
                <a:latin typeface="微软雅黑"/>
                <a:ea typeface="微软雅黑"/>
              </a:rPr>
              <a:t>多个性能指标联合退化，尾部与波动往往相关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163824"/>
            <a:ext cx="27889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163824"/>
            <a:ext cx="73152" cy="11704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255264"/>
            <a:ext cx="2487168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B365D"/>
                </a:solidFill>
                <a:latin typeface="微软雅黑"/>
                <a:ea typeface="微软雅黑"/>
              </a:rPr>
              <a:t>个体异质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547872"/>
            <a:ext cx="2487168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6E"/>
                </a:solidFill>
                <a:latin typeface="微软雅黑"/>
                <a:ea typeface="微软雅黑"/>
              </a:rPr>
              <a:t>随机效应、亚总体、两阶段与双尺度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3163824"/>
            <a:ext cx="27889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3163824"/>
            <a:ext cx="73152" cy="117043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3255264"/>
            <a:ext cx="2487168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B365D"/>
                </a:solidFill>
                <a:latin typeface="微软雅黑"/>
                <a:ea typeface="微软雅黑"/>
              </a:rPr>
              <a:t>在线流式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547872"/>
            <a:ext cx="2487168" cy="658368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6E"/>
                </a:solidFill>
                <a:latin typeface="微软雅黑"/>
                <a:ea typeface="微软雅黑"/>
              </a:rPr>
              <a:t>监测陆续到达，不能每次全样本重跑 MCMC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462272"/>
            <a:ext cx="11247120" cy="237744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8452B"/>
                </a:solidFill>
                <a:latin typeface="微软雅黑"/>
                <a:ea typeface="微软雅黑"/>
              </a:rPr>
              <a:t>因此，研究定位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718304"/>
            <a:ext cx="11247120" cy="171907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828032"/>
            <a:ext cx="10881360" cy="6400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用随机过程与贝叶斯方法，从退化监测数据和寿命数据中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评估高可靠产品的可靠性，并给出可递归更新的剩余寿命预测。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559552"/>
            <a:ext cx="265176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0C4B0"/>
                </a:solidFill>
                <a:latin typeface="微软雅黑"/>
                <a:ea typeface="微软雅黑"/>
              </a:rPr>
              <a:t>退化建模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15584"/>
            <a:ext cx="265176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D7DEE7"/>
                </a:solidFill>
                <a:latin typeface="微软雅黑"/>
                <a:ea typeface="微软雅黑"/>
              </a:rPr>
              <a:t>Wiener / IG / Gamma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47288" y="5559552"/>
            <a:ext cx="265176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0C4B0"/>
                </a:solidFill>
                <a:latin typeface="微软雅黑"/>
                <a:ea typeface="微软雅黑"/>
              </a:rPr>
              <a:t>在线贝叶斯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47288" y="5815584"/>
            <a:ext cx="265176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D7DEE7"/>
                </a:solidFill>
                <a:latin typeface="微软雅黑"/>
                <a:ea typeface="微软雅黑"/>
              </a:rPr>
              <a:t>共轭与递归更新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5559552"/>
            <a:ext cx="265176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0C4B0"/>
                </a:solidFill>
                <a:latin typeface="微软雅黑"/>
                <a:ea typeface="微软雅黑"/>
              </a:rPr>
              <a:t>客观贝叶斯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5815584"/>
            <a:ext cx="265176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D7DEE7"/>
                </a:solidFill>
                <a:latin typeface="微软雅黑"/>
                <a:ea typeface="微软雅黑"/>
              </a:rPr>
              <a:t>小样本寿命评估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5128" y="5559552"/>
            <a:ext cx="265176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0C4B0"/>
                </a:solidFill>
                <a:latin typeface="微软雅黑"/>
                <a:ea typeface="微软雅黑"/>
              </a:rPr>
              <a:t>试验与现场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5128" y="5815584"/>
            <a:ext cx="265176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D7DEE7"/>
                </a:solidFill>
                <a:latin typeface="微软雅黑"/>
                <a:ea typeface="微软雅黑"/>
              </a:rPr>
              <a:t>加速试验与数据融合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452B"/>
                </a:solidFill>
                <a:latin typeface="微软雅黑"/>
                <a:ea typeface="微软雅黑"/>
              </a:rPr>
              <a:t>02  /  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420624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B365D"/>
                </a:solidFill>
                <a:latin typeface="微软雅黑"/>
                <a:ea typeface="微软雅黑"/>
              </a:rPr>
              <a:t>随机退化过程：让模型贴合轨迹，且便于推断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1148"/>
          </a:xfrm>
          <a:prstGeom prst="rect">
            <a:avLst/>
          </a:prstGeom>
          <a:solidFill>
            <a:srgbClr val="A8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徐安察  ·  随机退化过程与贝叶斯可靠性推断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3  / 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微软雅黑"/>
                <a:ea typeface="微软雅黑"/>
              </a:rPr>
              <a:t>Wiener、逆高斯、Gamma 对应不同机理。我们做的不是再造过程族，而是在可识别、可计算的前提下扩展相依、变点、尺度与尾部。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5669280" cy="155448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73152" cy="155448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83664"/>
            <a:ext cx="5212080" cy="310896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B365D"/>
                </a:solidFill>
                <a:latin typeface="微软雅黑"/>
                <a:ea typeface="微软雅黑"/>
              </a:rPr>
              <a:t>多元相依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249424"/>
            <a:ext cx="5212080" cy="5486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C1C1C"/>
                </a:solidFill>
                <a:latin typeface="微软雅黑"/>
                <a:ea typeface="微软雅黑"/>
              </a:rPr>
              <a:t>二元 / 层次贝叶斯 Wiener；退化速率与波动可以相关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852928"/>
            <a:ext cx="5212080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6E"/>
                </a:solidFill>
                <a:latin typeface="微软雅黑"/>
                <a:ea typeface="微软雅黑"/>
              </a:rPr>
              <a:t>IEEE TR 2018,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737360"/>
            <a:ext cx="5669280" cy="155448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737360"/>
            <a:ext cx="73152" cy="155448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883664"/>
            <a:ext cx="5212080" cy="310896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B365D"/>
                </a:solidFill>
                <a:latin typeface="微软雅黑"/>
                <a:ea typeface="微软雅黑"/>
              </a:rPr>
              <a:t>厚尾相依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249424"/>
            <a:ext cx="5212080" cy="5486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C1C1C"/>
                </a:solidFill>
                <a:latin typeface="微软雅黑"/>
                <a:ea typeface="微软雅黑"/>
              </a:rPr>
              <a:t>多元 Student-t 过程，刻画尾部加权、指标联合退化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852928"/>
            <a:ext cx="5212080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6E"/>
                </a:solidFill>
                <a:latin typeface="微软雅黑"/>
                <a:ea typeface="微软雅黑"/>
              </a:rPr>
              <a:t>IISE Trans. 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29000"/>
            <a:ext cx="5669280" cy="155448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429000"/>
            <a:ext cx="73152" cy="155448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575304"/>
            <a:ext cx="5212080" cy="310896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B365D"/>
                </a:solidFill>
                <a:latin typeface="微软雅黑"/>
                <a:ea typeface="微软雅黑"/>
              </a:rPr>
              <a:t>两阶段寿命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941064"/>
            <a:ext cx="5212080" cy="5486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C1C1C"/>
                </a:solidFill>
                <a:latin typeface="微软雅黑"/>
                <a:ea typeface="微软雅黑"/>
              </a:rPr>
              <a:t>重参数化逆高斯 + 变点，给出两阶段 RUL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544568"/>
            <a:ext cx="5212080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6E"/>
                </a:solidFill>
                <a:latin typeface="微软雅黑"/>
                <a:ea typeface="微软雅黑"/>
              </a:rPr>
              <a:t>EJOR 2024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429000"/>
            <a:ext cx="5669280" cy="155448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429000"/>
            <a:ext cx="73152" cy="155448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3575304"/>
            <a:ext cx="5212080" cy="310896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B365D"/>
                </a:solidFill>
                <a:latin typeface="微软雅黑"/>
                <a:ea typeface="微软雅黑"/>
              </a:rPr>
              <a:t>双尺度异质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3941064"/>
            <a:ext cx="5212080" cy="54864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C1C1C"/>
                </a:solidFill>
                <a:latin typeface="微软雅黑"/>
                <a:ea typeface="微软雅黑"/>
              </a:rPr>
              <a:t>统一随机效应逆高斯，兼容两套时间尺度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544568"/>
            <a:ext cx="5212080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6E"/>
                </a:solidFill>
                <a:latin typeface="微软雅黑"/>
                <a:ea typeface="微软雅黑"/>
              </a:rPr>
              <a:t>IISE Trans. 2026+  Featured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12080"/>
            <a:ext cx="11247120" cy="118872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340096"/>
            <a:ext cx="1088136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452B"/>
                </a:solidFill>
                <a:latin typeface="微软雅黑"/>
                <a:ea typeface="微软雅黑"/>
              </a:rPr>
              <a:t>系统整理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614416"/>
            <a:ext cx="10881360" cy="62179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专著《随机退化过程与统计建模》（徐安察、汤银才、庄亮亮，科学出版社，2025；入选统计与数据科学丛书）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D7DEE7"/>
                </a:solidFill>
                <a:latin typeface="微软雅黑"/>
                <a:ea typeface="微软雅黑"/>
              </a:rPr>
              <a:t>在研：面向多维偏态厚尾退化数据的可靠性评估与贝叶斯最优设计  ·  国家自然科学基金面上项目 72571246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452B"/>
                </a:solidFill>
                <a:latin typeface="微软雅黑"/>
                <a:ea typeface="微软雅黑"/>
              </a:rPr>
              <a:t>03  /  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420624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B365D"/>
                </a:solidFill>
                <a:latin typeface="微软雅黑"/>
                <a:ea typeface="微软雅黑"/>
              </a:rPr>
              <a:t>贝叶斯在线学习：递归更新，而不是每次重估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1148"/>
          </a:xfrm>
          <a:prstGeom prst="rect">
            <a:avLst/>
          </a:prstGeom>
          <a:solidFill>
            <a:srgbClr val="A8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徐安察  ·  随机退化过程与贝叶斯可靠性推断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4  / 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微软雅黑"/>
                <a:ea typeface="微软雅黑"/>
              </a:rPr>
              <a:t>监测数据流式到达。我们利用共轭或可解析的更新，把后验写成递推，使剩余寿命预测可在线进行。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2788920" cy="1554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810512"/>
            <a:ext cx="2514600" cy="219456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452B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066543"/>
            <a:ext cx="2514600" cy="329184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B365D"/>
                </a:solidFill>
                <a:latin typeface="微软雅黑"/>
                <a:ea typeface="微软雅黑"/>
              </a:rPr>
              <a:t>共轭结构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2450592"/>
            <a:ext cx="2514600" cy="6400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Gamma / 逆高斯在合适参数化下存在共轭或近似共轭先验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691640"/>
            <a:ext cx="2788920" cy="155448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9584" y="1810512"/>
            <a:ext cx="2514600" cy="219456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0C4B0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066543"/>
            <a:ext cx="2514600" cy="329184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递归更新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450592"/>
            <a:ext cx="2514600" cy="6400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D7DEE7"/>
                </a:solidFill>
                <a:latin typeface="微软雅黑"/>
                <a:ea typeface="微软雅黑"/>
              </a:rPr>
              <a:t>新观测进入后，后验超参数闭式或近闭式刷新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691640"/>
            <a:ext cx="2788920" cy="155448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810512"/>
            <a:ext cx="2514600" cy="219456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0C4B0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066543"/>
            <a:ext cx="2514600" cy="329184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RUL 预测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450592"/>
            <a:ext cx="2514600" cy="6400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D7DEE7"/>
                </a:solidFill>
                <a:latin typeface="微软雅黑"/>
                <a:ea typeface="微软雅黑"/>
              </a:rPr>
              <a:t>由当前后验直接给出剩余寿命分布，不必重跑全样本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691640"/>
            <a:ext cx="2788920" cy="1554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4" y="1810512"/>
            <a:ext cx="2514600" cy="219456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452B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2066543"/>
            <a:ext cx="2514600" cy="329184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B365D"/>
                </a:solidFill>
                <a:latin typeface="微软雅黑"/>
                <a:ea typeface="微软雅黑"/>
              </a:rPr>
              <a:t>稳健 / 隐状态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2450592"/>
            <a:ext cx="2514600" cy="6400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异常点下的状态识别，避免一次离群拉偏整条轨迹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74720"/>
            <a:ext cx="5669280" cy="1243584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584448"/>
            <a:ext cx="5303520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B365D"/>
                </a:solidFill>
                <a:latin typeface="微软雅黑"/>
                <a:ea typeface="微软雅黑"/>
              </a:rPr>
              <a:t>递归贝叶斯 RUL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895344"/>
            <a:ext cx="5303520" cy="3657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Gamma 过程 + 共轭先验，剩余寿命可递推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315968"/>
            <a:ext cx="530352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6E"/>
                </a:solidFill>
                <a:latin typeface="微软雅黑"/>
                <a:ea typeface="微软雅黑"/>
              </a:rPr>
              <a:t>Scand. J. Statist.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474720"/>
            <a:ext cx="5669280" cy="1243584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3584448"/>
            <a:ext cx="5303520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B365D"/>
                </a:solidFill>
                <a:latin typeface="微软雅黑"/>
                <a:ea typeface="微软雅黑"/>
              </a:rPr>
              <a:t>逆高斯在线估计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3895344"/>
            <a:ext cx="5303520" cy="3657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高效在线估计与 RUL，避免全样本重估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4315968"/>
            <a:ext cx="530352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6E"/>
                </a:solidFill>
                <a:latin typeface="微软雅黑"/>
                <a:ea typeface="微软雅黑"/>
              </a:rPr>
              <a:t>Naval Res. Logist. 2025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46320"/>
            <a:ext cx="5669280" cy="1243584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956048"/>
            <a:ext cx="5303520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B365D"/>
                </a:solidFill>
                <a:latin typeface="微软雅黑"/>
                <a:ea typeface="微软雅黑"/>
              </a:rPr>
              <a:t>预后驱动维修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266944"/>
            <a:ext cx="5303520" cy="3657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贝叶斯深度学习把 RUL 接到预测性维修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687568"/>
            <a:ext cx="530352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6E"/>
                </a:solidFill>
                <a:latin typeface="微软雅黑"/>
                <a:ea typeface="微软雅黑"/>
              </a:rPr>
              <a:t>RESS 2023  ·  ESI 热点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846320"/>
            <a:ext cx="5669280" cy="1243584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4956048"/>
            <a:ext cx="5303520" cy="2743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B365D"/>
                </a:solidFill>
                <a:latin typeface="微软雅黑"/>
                <a:ea typeface="微软雅黑"/>
              </a:rPr>
              <a:t>联邦学习 RUL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5266944"/>
            <a:ext cx="5303520" cy="3657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数据不出域的航空发动机剩余寿命预测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8" y="5687568"/>
            <a:ext cx="530352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6E"/>
                </a:solidFill>
                <a:latin typeface="微软雅黑"/>
                <a:ea typeface="微软雅黑"/>
              </a:rPr>
              <a:t>Appl. Soft Comput. 2025  ·  ESI 高被引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256032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A8452B"/>
                </a:solidFill>
                <a:latin typeface="微软雅黑"/>
                <a:ea typeface="微软雅黑"/>
              </a:rPr>
              <a:t>04  /  评估与展望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47120" cy="420624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B365D"/>
                </a:solidFill>
                <a:latin typeface="微软雅黑"/>
                <a:ea typeface="微软雅黑"/>
              </a:rPr>
              <a:t>小样本评估，以及希望和专家讨论的问题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1148"/>
          </a:xfrm>
          <a:prstGeom prst="rect">
            <a:avLst/>
          </a:prstGeom>
          <a:solidFill>
            <a:srgbClr val="A8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徐安察  ·  随机退化过程与贝叶斯可靠性推断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56832"/>
            <a:ext cx="1280160" cy="20116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5  / 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3730752" cy="3977639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3730752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353312"/>
            <a:ext cx="3401568" cy="5029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B365D"/>
                </a:solidFill>
                <a:latin typeface="微软雅黑"/>
                <a:ea typeface="微软雅黑"/>
              </a:rPr>
              <a:t>客观贝叶斯与小样本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965960"/>
            <a:ext cx="3401568" cy="29260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·  参考先验、无信息先验与后验正常性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·  屏蔽数据、竞争失效、加速寿命 / 加速退化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·  Birnbaum–Saunders、Weibull 等寿命模型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·  代表：IEEE TR、CSDA、JSPI；浙江省自然科学奖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143000"/>
            <a:ext cx="3730752" cy="3977639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143000"/>
            <a:ext cx="3730752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353312"/>
            <a:ext cx="3401568" cy="5029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B365D"/>
                </a:solidFill>
                <a:latin typeface="微软雅黑"/>
                <a:ea typeface="微软雅黑"/>
              </a:rPr>
              <a:t>接到真实系统上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965960"/>
            <a:ext cx="3401568" cy="29260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·  永磁制动器小样本贝叶斯评估（IEEE TR）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·  华为：Weibull 核心算法、隐患预警、小子样分析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·  动态环境下的系统可靠性与竞争失效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·  加速试验与现场数据联合建模（STARF）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143000"/>
            <a:ext cx="3730752" cy="3977639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143000"/>
            <a:ext cx="3730752" cy="73152"/>
          </a:xfrm>
          <a:prstGeom prst="rect">
            <a:avLst/>
          </a:prstGeom>
          <a:solidFill>
            <a:srgbClr val="A8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353312"/>
            <a:ext cx="3401568" cy="50292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B365D"/>
                </a:solidFill>
                <a:latin typeface="微软雅黑"/>
                <a:ea typeface="微软雅黑"/>
              </a:rPr>
              <a:t>希望讨论的开放问题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965960"/>
            <a:ext cx="3401568" cy="29260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·  多维偏态厚尾退化的可识别参数化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·  在线更新下的校准：覆盖率能否守住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·  试验信息外推到现场时，偏差如何分解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C1C1C"/>
                </a:solidFill>
                <a:latin typeface="微软雅黑"/>
                <a:ea typeface="微软雅黑"/>
              </a:rPr>
              <a:t>·  贝叶斯最优设计如何同时服务评估与预测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57800"/>
            <a:ext cx="11247120" cy="1143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394960"/>
            <a:ext cx="7863840" cy="86868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后面的工作会沿着偏态厚尾建模、在线校准和试验—现场融合继续做。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D7DEE7"/>
                </a:solidFill>
                <a:latin typeface="微软雅黑"/>
                <a:ea typeface="微软雅黑"/>
              </a:rPr>
              <a:t>欢迎批评，也欢迎在具体数据或问题上合作。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5440680"/>
            <a:ext cx="2926080" cy="822960"/>
          </a:xfrm>
          <a:prstGeom prst="rect">
            <a:avLst/>
          </a:prstGeom>
          <a:noFill/>
        </p:spPr>
        <p:txBody>
          <a:bodyPr wrap="square" lIns="54864" rIns="54864" tIns="18288" bIns="18288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C4B0"/>
                </a:solidFill>
                <a:latin typeface="微软雅黑"/>
                <a:ea typeface="微软雅黑"/>
              </a:rPr>
              <a:t>欢迎批评与合作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xuancha@mail.zjgsu.edu.cn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www.xu-ancha.com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